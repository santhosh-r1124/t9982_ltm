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504" r:id="rId17"/>
    <p:sldId id="2147470505" r:id="rId18"/>
    <p:sldId id="2147470506" r:id="rId19"/>
    <p:sldId id="2147470507" r:id="rId20"/>
    <p:sldId id="2147470508" r:id="rId21"/>
    <p:sldId id="2147470509" r:id="rId22"/>
    <p:sldId id="2147470510" r:id="rId23"/>
    <p:sldId id="2147470511" r:id="rId24"/>
    <p:sldId id="2147470512" r:id="rId25"/>
    <p:sldId id="2147470513" r:id="rId26"/>
    <p:sldId id="2147470514" r:id="rId27"/>
    <p:sldId id="2147470515" r:id="rId28"/>
    <p:sldId id="2147470516" r:id="rId29"/>
    <p:sldId id="2147470517" r:id="rId30"/>
    <p:sldId id="214747051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2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Illustrative: after-hours work (hrs) by day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Own pattern</c:v>
                </c:pt>
              </c:strCache>
            </c:strRef>
          </c:tx>
          <c:spPr>
            <a:ln w="38100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1.0</c:v>
                </c:pt>
                <c:pt idx="1">
                  <c:v>1.2</c:v>
                </c:pt>
                <c:pt idx="2">
                  <c:v>0.9</c:v>
                </c:pt>
                <c:pt idx="3">
                  <c:v>1.1</c:v>
                </c:pt>
                <c:pt idx="4">
                  <c:v>1.0</c:v>
                </c:pt>
                <c:pt idx="5">
                  <c:v>1.2</c:v>
                </c:pt>
                <c:pt idx="6">
                  <c:v>1.1</c:v>
                </c:pt>
                <c:pt idx="7">
                  <c:v>1.0</c:v>
                </c:pt>
                <c:pt idx="8">
                  <c:v>1.9</c:v>
                </c:pt>
                <c:pt idx="9">
                  <c:v>2.2</c:v>
                </c:pt>
                <c:pt idx="10">
                  <c:v>2.4</c:v>
                </c:pt>
                <c:pt idx="11">
                  <c:v>2.3</c:v>
                </c:pt>
                <c:pt idx="12">
                  <c:v>2.6</c:v>
                </c:pt>
                <c:pt idx="13">
                  <c:v>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Personal baseline</c:v>
                </c:pt>
              </c:strCache>
            </c:strRef>
          </c:tx>
          <c:spPr>
            <a:ln w="25400">
              <a:solidFill>
                <a:srgbClr val="1F4E79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1.1</c:v>
                </c:pt>
                <c:pt idx="1">
                  <c:v>1.1</c:v>
                </c:pt>
                <c:pt idx="2">
                  <c:v>1.1</c:v>
                </c:pt>
                <c:pt idx="3">
                  <c:v>1.1</c:v>
                </c:pt>
                <c:pt idx="4">
                  <c:v>1.1</c:v>
                </c:pt>
                <c:pt idx="5">
                  <c:v>1.1</c:v>
                </c:pt>
                <c:pt idx="6">
                  <c:v>1.1</c:v>
                </c:pt>
                <c:pt idx="7">
                  <c:v>1.1</c:v>
                </c:pt>
                <c:pt idx="8">
                  <c:v>1.1</c:v>
                </c:pt>
                <c:pt idx="9">
                  <c:v>1.1</c:v>
                </c:pt>
                <c:pt idx="10">
                  <c:v>1.1</c:v>
                </c:pt>
                <c:pt idx="11">
                  <c:v>1.1</c:v>
                </c:pt>
                <c:pt idx="12">
                  <c:v>1.1</c:v>
                </c:pt>
                <c:pt idx="13">
                  <c:v>1.1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Alert threshold</c:v>
                </c:pt>
              </c:strCache>
            </c:strRef>
          </c:tx>
          <c:spPr>
            <a:ln w="25400">
              <a:solidFill>
                <a:srgbClr val="D98A1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1.7</c:v>
                </c:pt>
                <c:pt idx="1">
                  <c:v>1.7</c:v>
                </c:pt>
                <c:pt idx="2">
                  <c:v>1.7</c:v>
                </c:pt>
                <c:pt idx="3">
                  <c:v>1.7</c:v>
                </c:pt>
                <c:pt idx="4">
                  <c:v>1.7</c:v>
                </c:pt>
                <c:pt idx="5">
                  <c:v>1.7</c:v>
                </c:pt>
                <c:pt idx="6">
                  <c:v>1.7</c:v>
                </c:pt>
                <c:pt idx="7">
                  <c:v>1.7</c:v>
                </c:pt>
                <c:pt idx="8">
                  <c:v>1.7</c:v>
                </c:pt>
                <c:pt idx="9">
                  <c:v>1.7</c:v>
                </c:pt>
                <c:pt idx="10">
                  <c:v>1.7</c:v>
                </c:pt>
                <c:pt idx="11">
                  <c:v>1.7</c:v>
                </c:pt>
                <c:pt idx="12">
                  <c:v>1.7</c:v>
                </c:pt>
                <c:pt idx="13">
                  <c:v>1.7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Personal baseline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AUROC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</c:v>
                </c:pt>
                <c:pt idx="1">
                  <c:v>0.75</c:v>
                </c:pt>
                <c:pt idx="2">
                  <c:v>0.99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 baseline</c:v>
                </c:pt>
              </c:strCache>
            </c:strRef>
          </c:tx>
          <c:spPr>
            <a:solidFill>
              <a:srgbClr val="D98A10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AUROC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0.35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III covers two projects: LA BOT (a legal assistant) and WorkWell AI (an employee wellbeing early-warning tool). I will explain each with its flow, methods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Indian law is scattered and generic AI can invent law. LA BOT answers only from verified sources, cites them, and sends hard cases to a real advocate.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goals: accurate cited answers, refuse when unsure, flag risk, help draft documents, and connect to advocates.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row: how laws are loaded once. Bottom row: what happens on every question. If no source is found the bot refuses instead of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LLM call classifies the question and scores risk. Low risk gets an answer. High or critical risk also gets an advocate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design choice has a simple reason. Hybrid search plus RRF is the core idea; the LLM provider can be swapped without 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chat, risk engine, drafting and advocate search work and are tested. Booking, payments and admin UI are planned for the next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Burnout builds quietly. WorkWell AI learns each person's own normal and notices lasting change, then offers private, gentle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goals focus on early, explainable and privacy-first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the numbers 1 to 8. Statistics detect the change; the AI only explains it. A daily worker runs this for every consenting employee.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chart is illustrative. Normal days stay under the threshold. When days stay above it for five in a row, it becomes a persistent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path: evidence goes through fixed steps and Gemini only words the message. Bottom path: every chat message passes a separate safety check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steps from raw signals to a gentle suggestion. Every threshold is a fixed, explainable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Tested on synthetic data. The personal baseline found all 13 episodes with almost no false alarms; the population baseline found none. This shows the method works, not clinical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systems put safety first: LA BOT refuses to guess and WorkWell AI refuses to diagnose. Next steps are booking and payments for LA BOT, and a live deployment and pilot for WorkWell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faculty, mentors and LTIMindTree.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sources for the methods and the privacy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microsoft.com/office/2007/relationships/hdphoto" Target="../media/hdphoto1.wdp"/><Relationship Id="rId18" Type="http://schemas.openxmlformats.org/officeDocument/2006/relationships/image" Target="../media/image3.png"/><Relationship Id="rId1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3.wdp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prstClr val="white"/>
                </a:solidFill>
                <a:cs typeface="Calibri" panose="020F0502020204030204" pitchFamily="34" charset="0"/>
              </a:rPr>
              <a:t>1. LA BOT – Indian Legal Advisor Bot</a:t>
            </a:r>
          </a:p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cs typeface="Calibri" panose="020F0502020204030204" pitchFamily="34" charset="0"/>
              </a:rPr>
              <a:t>2. WorkWell AI – Employee Wellness Platform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Santhosh Rajinikanth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&amp; 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15060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33467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Scattered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334670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Indian law is spread across many 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490472"/>
            <a:ext cx="33467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Unreliable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920240"/>
            <a:ext cx="334670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Generic chatbots can hallucinate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490472"/>
            <a:ext cx="33467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Costly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334670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Even routine questions need an advocate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How it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Ask a legal question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22092" y="3863339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6042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Search verified Acts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25312" y="3863339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Cited answer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28532" y="3863339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6686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Advocate, if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LA BOT gives legal information with sources — it never acts as a lawyer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7432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</a:t>
            </a:r>
          </a:p>
          <a:p>
            <a:pPr algn="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02920" y="146304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463040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Accurate, cited answers on Indian IT, business and IP law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49424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249424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Never guess — reply “insufficient verified information” when unsure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035808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035808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Flag high-risk queries and recommend a professional advocate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822191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822191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Guide users to draft 11 common legal document types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608576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608576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Connect users with verified advocates by area, state and language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1 – Knowledge Base &amp; RAG Chat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801014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A. Build the knowledge base (once)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Fetch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Official Acts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30551" y="2217420"/>
            <a:ext cx="219457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77440" y="1783080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Extract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PDF / HTML 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50792" y="2217420"/>
            <a:ext cx="21945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97680" y="1783080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Clean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Remove noise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71032" y="2217420"/>
            <a:ext cx="21945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783080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Chunk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~1500 chars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91272" y="2217420"/>
            <a:ext cx="21945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1783080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Embed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Gemini vectors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11512" y="2217420"/>
            <a:ext cx="21945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0" y="1783080"/>
            <a:ext cx="164592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Store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pgvector +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B. Answer a question (every chat)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461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04872" y="3703320"/>
            <a:ext cx="35661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88920" y="32461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Hybrid search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keyword + vector → RRF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6592" y="3703320"/>
            <a:ext cx="35661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20640" y="32461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Top 6 passages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68312" y="3703320"/>
            <a:ext cx="35661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52360" y="32461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LLM answer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grounded in passages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0032" y="3703320"/>
            <a:ext cx="35661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84080" y="32461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Answer + [n] sources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streamed live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429000" y="4206240"/>
            <a:ext cx="0" cy="411480"/>
          </a:xfrm>
          <a:prstGeom prst="line">
            <a:avLst/>
          </a:prstGeom>
          <a:ln w="28575">
            <a:solidFill>
              <a:srgbClr val="C0392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103120" y="466344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No source → “insufficient verified information”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663440"/>
            <a:ext cx="5486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1">
                <a:solidFill>
                  <a:srgbClr val="6B7785"/>
                </a:solidFill>
                <a:latin typeface="Calibri"/>
              </a:rPr>
              <a:t>15 official Acts indexed · hybrid search catches meaning and exact legal terms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2 – Risk Engine &amp; Advocates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58037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Understand the question before answering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926080"/>
            <a:ext cx="2468880" cy="10972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Classifier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15 categories · 8 jurisdictions · risk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30552" y="3474720"/>
            <a:ext cx="58521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239512" y="2148840"/>
            <a:ext cx="859536" cy="1325880"/>
          </a:xfrm>
          <a:prstGeom prst="line">
            <a:avLst/>
          </a:prstGeom>
          <a:ln w="28575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0" y="173736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LOW / MEDIUM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14232" y="2148840"/>
            <a:ext cx="493776" cy="0"/>
          </a:xfrm>
          <a:prstGeom prst="line">
            <a:avLst/>
          </a:prstGeom>
          <a:ln w="28575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35440" y="1737360"/>
            <a:ext cx="2468880" cy="82296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6323F"/>
                </a:solidFill>
                <a:latin typeface="Calibri"/>
              </a:rPr>
              <a:t>Answer + sources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239512" y="3429000"/>
            <a:ext cx="859536" cy="45720"/>
          </a:xfrm>
          <a:prstGeom prst="line">
            <a:avLst/>
          </a:prstGeom>
          <a:ln w="28575">
            <a:solidFill>
              <a:srgbClr val="D98A1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80" y="30175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D9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HIGH / CRITICAL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14232" y="3429000"/>
            <a:ext cx="493776" cy="0"/>
          </a:xfrm>
          <a:prstGeom prst="line">
            <a:avLst/>
          </a:prstGeom>
          <a:ln w="28575">
            <a:solidFill>
              <a:srgbClr val="D98A1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3017520"/>
            <a:ext cx="2468880" cy="82296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9050">
            <a:solidFill>
              <a:srgbClr val="D98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6323F"/>
                </a:solidFill>
                <a:latin typeface="Calibri"/>
              </a:rPr>
              <a:t>Advocate directory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39512" y="3474720"/>
            <a:ext cx="859536" cy="123444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26480" y="429768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14232" y="4709160"/>
            <a:ext cx="49377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40" y="4297680"/>
            <a:ext cx="2468880" cy="82296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9050">
            <a:solidFill>
              <a:srgbClr val="6B77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6323F"/>
                </a:solidFill>
                <a:latin typeface="Calibri"/>
              </a:rPr>
              <a:t>Fixed polite 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43400"/>
            <a:ext cx="4754880" cy="8686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Document Assistant</a:t>
            </a:r>
          </a:p>
          <a:p>
            <a:pPr algn="ctr"/>
            <a:r>
              <a:rPr sz="1200" b="0" i="0">
                <a:solidFill>
                  <a:srgbClr val="1F4E79"/>
                </a:solidFill>
                <a:latin typeface="Calibri"/>
              </a:rPr>
              <a:t>Guided questions → draft for 11 document types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Methodology, Algorithms &amp;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6935723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6858000" cy="332841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94560"/>
                <a:gridCol w="466344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Design choice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Answers come from real law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Hybrid 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Meaning + exact legal terms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RRF (k = 60)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Merges both result lists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One LLM call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Class + risk, cheaper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Fail-safe defaults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Unclear risk → HIGH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Swappable LLM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Gemini, Groq, Ollama, Claude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6949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Algorithms: sliding-window chunking · cosine search (HNSW) · full-text ranking · RRF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173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41732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Next.js 15 · React 19 · Tailwind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05740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05740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FastAPI · Pydantic · SQLAlchemy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69748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69748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PostgreSQL 16 + pgvector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337559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337559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Redis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977639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977639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Gemini · Groq · Ollama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6177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61772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Docker ·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Findings &amp;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4142231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7040880" cy="3657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75488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Login &amp; roles (RBAC)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8B57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Cited, streamed legal chat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8B57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Classifier + risk engine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8B57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Hybrid RAG 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8B57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Document assistant (11 types)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E8B57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Advocate directory (demo data)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D98A10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Booking, payments, admin UI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C0392B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417320"/>
            <a:ext cx="3931920" cy="192024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490472"/>
            <a:ext cx="371246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1920240"/>
            <a:ext cx="3712463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Backend tests on real Postgres + pgvector · strict type checks · browser end-to-end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520440"/>
            <a:ext cx="3931920" cy="1600200"/>
          </a:xfrm>
          <a:prstGeom prst="roundRect">
            <a:avLst>
              <a:gd name="adj" fmla="val 6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3593592"/>
            <a:ext cx="371246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D98A10"/>
                </a:solidFill>
                <a:latin typeface="Calibri"/>
              </a:rPr>
              <a:t>Still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4023360"/>
            <a:ext cx="3712463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Live Gemini / Groq calls · full Acts corpus loaded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&amp; 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15060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33467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Quiet burnout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334670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Strain builds slowly over weeks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490472"/>
            <a:ext cx="33467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Noticed too 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920240"/>
            <a:ext cx="334670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Managers see it after the damage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490472"/>
            <a:ext cx="33467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Invasive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920240"/>
            <a:ext cx="334670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Screenshots and keylogging erode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How it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Approved work signals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22092" y="3863339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6042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Personal baseline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25312" y="3863339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Lasting change found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28532" y="3863339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66860" y="3429000"/>
            <a:ext cx="2537460" cy="8686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Gentle private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Never a diagnosis and never a risk score shown to anyone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7432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</a:t>
            </a:r>
          </a:p>
          <a:p>
            <a:pPr algn="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02920" y="1463040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463040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Detect sustained changes in an employee's own work pattern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249424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249424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Keep detection explainable — statistics, not LLM guesses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035808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035808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Use agentic AI + RAG to suggest the least-intrusive support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822191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822191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Protect privacy — consent first; no webcam, keystrokes, messages or audio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608576"/>
            <a:ext cx="640080" cy="64008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608576"/>
            <a:ext cx="1037844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1" i="0">
                <a:solidFill>
                  <a:srgbClr val="26323F"/>
                </a:solidFill>
                <a:latin typeface="Calibri"/>
              </a:rPr>
              <a:t>Managers see team-level trends only (minimum 5 people)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 Pipeline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349757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  Desktop Agent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approved signals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  Employee Dashboard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private nudge + feedback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53512" y="2075688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953512" y="3904487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5544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  Telemetry API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consent 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3832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  Agent Orchestrator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context → nudge → RAG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88152" y="2075688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788152" y="3904487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0" y="15544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  Daily Features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5 signal groups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3832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  Risk Fusion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pattern state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22792" y="2075688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622792" y="3904487"/>
            <a:ext cx="31089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15544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  Personal Baseline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median / MAD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3383280"/>
            <a:ext cx="2468880" cy="105156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  Anomaly + Persistence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z &gt; 2.5 for 5 days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95560" y="2633472"/>
            <a:ext cx="0" cy="722376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4754880"/>
            <a:ext cx="11247120" cy="5029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F4E79"/>
                </a:solidFill>
                <a:latin typeface="Calibri"/>
              </a:rPr>
              <a:t>Daily worker runs this for every consenting employee · Safety pipeline checks every chat message separately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– Detection Core (ML)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6291072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</a:t>
            </a:r>
          </a:p>
          <a:p>
            <a:pPr algn="r"/>
            <a:endParaRPr lang="en-US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67665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417320"/>
            <a:ext cx="4206240" cy="114300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7" y="1490472"/>
            <a:ext cx="398678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1  Own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7" y="1920240"/>
            <a:ext cx="398678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Median &amp; MAD of own last 7–14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697480"/>
            <a:ext cx="4206240" cy="114300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7" y="2770632"/>
            <a:ext cx="398678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2  Unusual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3200400"/>
            <a:ext cx="398678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Robust z-score above 2.5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977639"/>
            <a:ext cx="4206240" cy="1143000"/>
          </a:xfrm>
          <a:prstGeom prst="roundRect">
            <a:avLst>
              <a:gd name="adj" fmla="val 6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7" y="4050791"/>
            <a:ext cx="398678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Calibri"/>
              </a:rPr>
              <a:t>3  Persistent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4480559"/>
            <a:ext cx="3986783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6323F"/>
                </a:solidFill>
                <a:latin typeface="Calibri"/>
              </a:rPr>
              <a:t>5 unusual days in a row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– Agentic AI, RAG &amp; Safety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65492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Daily support path — the LLM never decides scores or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684020" cy="10058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Detected pattern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8652" y="2286000"/>
            <a:ext cx="17373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69820" y="1783080"/>
            <a:ext cx="1684020" cy="10058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Context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81272" y="2286000"/>
            <a:ext cx="17373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82440" y="1783080"/>
            <a:ext cx="1684020" cy="10058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Rule table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least intrusive, 3-day pause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3892" y="2286000"/>
            <a:ext cx="17373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95060" y="1783080"/>
            <a:ext cx="1684020" cy="10058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Wellness RAG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WHO + policy guides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6512" y="2286000"/>
            <a:ext cx="17373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07680" y="1783080"/>
            <a:ext cx="1684020" cy="10058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Gemini wording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plain, friendly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19132" y="2286000"/>
            <a:ext cx="17373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20300" y="1783080"/>
            <a:ext cx="1684020" cy="10058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Private nudge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Chat safety path — checked before anything else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77639"/>
            <a:ext cx="2194560" cy="77724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Chat 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886200"/>
            <a:ext cx="2834640" cy="9601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Safety check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rule-based, always first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9192" y="4361688"/>
            <a:ext cx="585216" cy="0"/>
          </a:xfrm>
          <a:prstGeom prst="line">
            <a:avLst/>
          </a:prstGeom>
          <a:ln w="28575">
            <a:solidFill>
              <a:srgbClr val="6B77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153912" y="3840480"/>
            <a:ext cx="704088" cy="365760"/>
          </a:xfrm>
          <a:prstGeom prst="line">
            <a:avLst/>
          </a:prstGeom>
          <a:ln w="28575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53912" y="4526280"/>
            <a:ext cx="704088" cy="411480"/>
          </a:xfrm>
          <a:prstGeom prst="line">
            <a:avLst/>
          </a:prstGeom>
          <a:ln w="2857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03720" y="3520440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Normal → assistant reply with RAG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4617720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FBE5E1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Crisis wording → crisis resources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Methodology, Algorithms &amp;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6935723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7040880" cy="332841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37360"/>
                <a:gridCol w="2926080"/>
                <a:gridCol w="2377440"/>
              </a:tblGrid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Daily vector, 5 groups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Complete days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Median + MAD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Min. 7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Anomaly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Robust z-score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|z| &gt; 2.5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Consecutive unusual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≥ 5 in a row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Risk fusion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Weighted scores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0.60 / 0.75</a:t>
                      </a:r>
                    </a:p>
                  </a:txBody>
                  <a:tcPr marL="73152" marR="73152" marT="27432" marB="27432" anchor="ctr">
                    <a:solidFill>
                      <a:srgbClr val="E8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6323F"/>
                          </a:solidFill>
                          <a:latin typeface="Calibri"/>
                        </a:rPr>
                        <a:t>Intervention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Fixed rule table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6323F"/>
                          </a:solidFill>
                          <a:latin typeface="Calibri"/>
                        </a:rPr>
                        <a:t>3-day pause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70408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Also: pgvector cosine retrieval (RAG) · k-anonymity (min. 5 per team)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4173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41732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React · TypeScript ·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05740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05740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FastAPI · Alembic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69748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69748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PostgreSQL + pgvector ·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337559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337559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Gemini (LLM + embeddings)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77639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977639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Python · psutil · pynput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61772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617720"/>
            <a:ext cx="2651760" cy="5486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26323F"/>
                </a:solidFill>
                <a:latin typeface="Calibri"/>
              </a:rPr>
              <a:t>Docker · Prometheus · pytest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Findings &amp;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4142231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WorkWell AI</a:t>
            </a:r>
          </a:p>
          <a:p>
            <a:pPr algn="r"/>
            <a:endParaRPr lang="en-US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65836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17320"/>
            <a:ext cx="4389120" cy="1143000"/>
          </a:xfrm>
          <a:prstGeom prst="roundRect">
            <a:avLst/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13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63040"/>
            <a:ext cx="246888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episodes found (population: 0 / 13)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97480"/>
            <a:ext cx="4389120" cy="1143000"/>
          </a:xfrm>
          <a:prstGeom prst="roundRect">
            <a:avLst/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743200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246888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false alarms on stable high-workload staff (population: 0.77)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977639"/>
            <a:ext cx="4389120" cy="1143000"/>
          </a:xfrm>
          <a:prstGeom prst="roundRect">
            <a:avLst/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4023360"/>
            <a:ext cx="173736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324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023360"/>
            <a:ext cx="2468880" cy="1051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automated tests passing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7432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| WorkWell AI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486400" cy="3840480"/>
          </a:xfrm>
          <a:prstGeom prst="roundRect">
            <a:avLst>
              <a:gd name="adj" fmla="val 4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LA BOT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2316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4663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23F"/>
                </a:solidFill>
                <a:latin typeface="Calibri"/>
              </a:rPr>
              <a:t>Cited legal chat with risk guardrail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46120"/>
            <a:ext cx="4663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23F"/>
                </a:solidFill>
                <a:latin typeface="Calibri"/>
              </a:rPr>
              <a:t>Drafting for 11 document types + advocate search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251960"/>
            <a:ext cx="4663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23F"/>
                </a:solidFill>
                <a:latin typeface="Calibri"/>
              </a:rPr>
              <a:t>Next: booking, payments, admin UI, deployment (Phases 8–16)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486400" cy="3840480"/>
          </a:xfrm>
          <a:prstGeom prst="roundRect">
            <a:avLst>
              <a:gd name="adj" fmla="val 4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5486400" cy="64008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WorkWell AI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42316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240280"/>
            <a:ext cx="4663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23F"/>
                </a:solidFill>
                <a:latin typeface="Calibri"/>
              </a:rPr>
              <a:t>All 21 phases built and tested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42900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246120"/>
            <a:ext cx="4663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23F"/>
                </a:solidFill>
                <a:latin typeface="Calibri"/>
              </a:rPr>
              <a:t>Personal baselines beat population baselines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434840"/>
            <a:ext cx="365760" cy="36576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4251960"/>
            <a:ext cx="466344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6323F"/>
                </a:solidFill>
                <a:latin typeface="Calibri"/>
              </a:rPr>
              <a:t>Next: live deployment, real-key test, 20–50 volunteer pilot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349757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| WorkWell AI</a:t>
            </a:r>
          </a:p>
          <a:p>
            <a:pPr algn="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2377440"/>
          </a:xfrm>
          <a:prstGeom prst="roundRect">
            <a:avLst>
              <a:gd name="adj" fmla="val 10000"/>
            </a:avLst>
          </a:prstGeom>
          <a:solidFill>
            <a:srgbClr val="E8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000" b="1" i="0">
                <a:solidFill>
                  <a:srgbClr val="1F4E79"/>
                </a:solidFill>
                <a:latin typeface="Calibri"/>
              </a:rPr>
              <a:t>Thank you</a:t>
            </a:r>
          </a:p>
          <a:p>
            <a:pPr algn="ctr"/>
            <a:r>
              <a:rPr sz="2000" b="0" i="0">
                <a:solidFill>
                  <a:srgbClr val="1F4E79"/>
                </a:solidFill>
                <a:latin typeface="Calibri"/>
              </a:rPr>
              <a:t>to the University faculty, my mentors and LTIMindTree (knowledge and implementation partner) for their guidance and support throughout the M.Tech programme.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Calibri"/>
              </a:rPr>
              <a:t>Santhosh Rajinikanth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27432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LA BOT | WorkWell AI</a:t>
            </a:r>
          </a:p>
          <a:p>
            <a:pPr algn="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114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1. WHO (2022). Guidelines on mental health at work.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2. Wetherell et al. (2023). Typing and stress. Psychophysiology.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3. Vizer, Zhou &amp; Sears (2009). Stress detection from keystroke and linguistic features. Int. J. Human-Computer Studies.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4. ICO (UK). Guidance on monitoring workers.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5. Government of India. India Code; Digital Personal Data Protection Act, 2023.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6. Lewis et al. (2020). Retrieval-Augmented Generation for knowledge-intensive NLP. NeurIPS.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7. Cormack, Clarke &amp; Büttcher (2009). Reciprocal Rank Fusion. SIGIR.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8. Leys et al. (2013). Detecting outliers: use the median absolute deviation. J. Exp. Social Psychology.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9. Sweeney (2002). k-anonymity. Int. J. Uncertainty, Fuzziness and Knowledge-Based Systems.</a:t>
            </a:r>
          </a:p>
          <a:p>
            <a:pPr algn="l"/>
            <a:r>
              <a:rPr sz="1400" b="0" i="0">
                <a:solidFill>
                  <a:srgbClr val="26323F"/>
                </a:solidFill>
                <a:latin typeface="Calibri"/>
              </a:rPr>
              <a:t>10. Code: github.com/santhosh-r1124/newla_bot · github.com/santhosh-r1124/workwellfinal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HARI PRASATH</cp:lastModifiedBy>
  <cp:revision>14</cp:revision>
  <dcterms:created xsi:type="dcterms:W3CDTF">2024-05-13T10:33:11Z</dcterms:created>
  <dcterms:modified xsi:type="dcterms:W3CDTF">2025-10-06T09:41:15Z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