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147470489" r:id="rId2"/>
    <p:sldId id="2147470501" r:id="rId15"/>
    <p:sldId id="2147470492" r:id="rId3"/>
    <p:sldId id="2147470493" r:id="rId4"/>
    <p:sldId id="2147470487" r:id="rId5"/>
    <p:sldId id="2147470502" r:id="rId16"/>
    <p:sldId id="2147470503" r:id="rId17"/>
    <p:sldId id="2147470494" r:id="rId6"/>
    <p:sldId id="2147470497" r:id="rId7"/>
    <p:sldId id="2147470498" r:id="rId8"/>
    <p:sldId id="2147470500" r:id="rId9"/>
    <p:sldId id="2147470499" r:id="rId10"/>
    <p:sldId id="2147470504" r:id="rId18"/>
    <p:sldId id="2147470505" r:id="rId19"/>
    <p:sldId id="2147470506" r:id="rId20"/>
    <p:sldId id="2147470507" r:id="rId21"/>
    <p:sldId id="2147470508" r:id="rId22"/>
    <p:sldId id="2147470509" r:id="rId23"/>
    <p:sldId id="2147470510" r:id="rId24"/>
    <p:sldId id="2147470511" r:id="rId25"/>
    <p:sldId id="2147470512" r:id="rId26"/>
    <p:sldId id="2147470513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5B9ED"/>
    <a:srgbClr val="47BDAE"/>
    <a:srgbClr val="30BBDA"/>
    <a:srgbClr val="47BDAF"/>
    <a:srgbClr val="696969"/>
    <a:srgbClr val="1C4D98"/>
    <a:srgbClr val="8BC431"/>
    <a:srgbClr val="97B6BA"/>
    <a:srgbClr val="24A8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6" d="100"/>
          <a:sy n="56" d="100"/>
        </p:scale>
        <p:origin x="100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  <Relationship Id="rId15" Type="http://schemas.openxmlformats.org/officeDocument/2006/relationships/slide" Target="slides/slide10.xml"/>
  <Relationship Id="rId16" Type="http://schemas.openxmlformats.org/officeDocument/2006/relationships/slide" Target="slides/slide11.xml"/>
  <Relationship Id="rId17" Type="http://schemas.openxmlformats.org/officeDocument/2006/relationships/slide" Target="slides/slide12.xml"/>
  <Relationship Id="rId18" Type="http://schemas.openxmlformats.org/officeDocument/2006/relationships/slide" Target="slides/slide13.xml"/>
  <Relationship Id="rId19" Type="http://schemas.openxmlformats.org/officeDocument/2006/relationships/slide" Target="slides/slide14.xml"/>
  <Relationship Id="rId20" Type="http://schemas.openxmlformats.org/officeDocument/2006/relationships/slide" Target="slides/slide15.xml"/>
  <Relationship Id="rId21" Type="http://schemas.openxmlformats.org/officeDocument/2006/relationships/slide" Target="slides/slide16.xml"/>
  <Relationship Id="rId22" Type="http://schemas.openxmlformats.org/officeDocument/2006/relationships/slide" Target="slides/slide17.xml"/>
  <Relationship Id="rId23" Type="http://schemas.openxmlformats.org/officeDocument/2006/relationships/slide" Target="slides/slide18.xml"/>
  <Relationship Id="rId24" Type="http://schemas.openxmlformats.org/officeDocument/2006/relationships/slide" Target="slides/slide19.xml"/>
  <Relationship Id="rId25" Type="http://schemas.openxmlformats.org/officeDocument/2006/relationships/slide" Target="slides/slide20.xml"/>
  <Relationship Id="rId26" Type="http://schemas.openxmlformats.org/officeDocument/2006/relationships/slide" Target="slides/slide21.xml"/>
  <Relationship Id="rId27" Type="http://schemas.openxmlformats.org/officeDocument/2006/relationships/slide" Target="slides/slide22.xml"/>
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3F4D17B-9B25-2D63-E389-71163BD2C8E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FC4ED1-FB42-4A6C-B292-B8C58946A8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35A630-145D-4232-9865-98341E30F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708363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837F2-3C53-43E6-9F25-242D13C5A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2C3C5-9B28-493B-9422-74FF4AE18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70436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9B68FAD-9CFA-CBF0-4B37-9944C2E932A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D4B6E2-CC70-4366-ABC8-87480CC35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D34EE-ED80-45A7-B964-53ED80D94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3036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3BCD6-D227-4C30-8364-6F161FA12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C3054-5604-4679-AF7D-07BF06BE01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47BA85-32D5-4EA3-9F8B-5A8B92517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96123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F33A1-3BE5-4F1B-8E70-082254902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4CAE0-72F2-4F22-A85A-772E3DA04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DE67E9-F76F-4049-98D4-82E9E7C800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332A94-E906-4159-9FE4-E63CFAE0BE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16D1AA-A642-4FEB-91F0-3F506A2AE8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9363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BF108-6EC2-4592-9D33-716E6B1AC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26736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7387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2AB71-FC15-4C88-A99B-0D66CDCEE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69B3E-A4BB-45D7-ABB7-1E151F04F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FD4C72-B215-468A-8722-23007428B0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94330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42731-906B-40B4-86D3-CD7878598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1042F1-26FD-477E-A079-62384AA43E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52E8FE-8F89-4D08-8341-786A0381BB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8541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B0375-D926-48D9-8605-813B1B64E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8D7657-21CC-45AA-A2CE-92653962FC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9364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A09EBA-4206-40BF-81B1-742CF8BD5B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B8BE7B-6EB1-4B41-A25B-B41833E5B2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1384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5996" y="1271219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06C9D6B8-9A00-34FD-3E41-E67F07F278E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5996" y="629525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36477356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803" y="469835"/>
            <a:ext cx="11672300" cy="65004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2443542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microsoft.com/office/2007/relationships/hdphoto" Target="../media/hdphoto2.wdp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D087FE-85BE-5152-9EB5-3B57AE38DD48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337544"/>
            <a:ext cx="12191994" cy="154830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EFA70D2-ADBF-0DD4-D7D1-F37201867E99}"/>
              </a:ext>
            </a:extLst>
          </p:cNvPr>
          <p:cNvSpPr/>
          <p:nvPr userDrawn="1"/>
        </p:nvSpPr>
        <p:spPr>
          <a:xfrm>
            <a:off x="0" y="0"/>
            <a:ext cx="12192000" cy="365125"/>
          </a:xfrm>
          <a:prstGeom prst="rect">
            <a:avLst/>
          </a:prstGeom>
          <a:gradFill>
            <a:gsLst>
              <a:gs pos="5000">
                <a:srgbClr val="47BDAE"/>
              </a:gs>
              <a:gs pos="59000">
                <a:srgbClr val="25B9ED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2000" b="1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C08DB-FBED-4A43-AE4B-B2CE371FE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8" name="Picture 4" descr="LTIMindtree logo in transparent PNG and vectorized SVG formats">
            <a:extLst>
              <a:ext uri="{FF2B5EF4-FFF2-40B4-BE49-F238E27FC236}">
                <a16:creationId xmlns:a16="http://schemas.microsoft.com/office/drawing/2014/main" id="{21F70453-17DB-04F6-290A-DCDEF9FDE0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saturation sat="400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5387" y="6562429"/>
            <a:ext cx="1541059" cy="295571"/>
          </a:xfrm>
          <a:prstGeom prst="rect">
            <a:avLst/>
          </a:prstGeom>
          <a:noFill/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DBDE3A73-7407-B3B5-0BC2-D13C973D143A}"/>
              </a:ext>
            </a:extLst>
          </p:cNvPr>
          <p:cNvSpPr txBox="1">
            <a:spLocks/>
          </p:cNvSpPr>
          <p:nvPr userDrawn="1"/>
        </p:nvSpPr>
        <p:spPr>
          <a:xfrm>
            <a:off x="221274" y="88514"/>
            <a:ext cx="8176583" cy="1103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0A0B4C8-C250-76C3-01DB-D728F6B32656}"/>
              </a:ext>
            </a:extLst>
          </p:cNvPr>
          <p:cNvSpPr txBox="1">
            <a:spLocks/>
          </p:cNvSpPr>
          <p:nvPr userDrawn="1"/>
        </p:nvSpPr>
        <p:spPr>
          <a:xfrm>
            <a:off x="391411" y="640135"/>
            <a:ext cx="11290305" cy="5237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Calibri (Body)"/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49D7A90-F0A3-C216-D67E-9B86D1BECDF5}"/>
              </a:ext>
            </a:extLst>
          </p:cNvPr>
          <p:cNvSpPr txBox="1">
            <a:spLocks/>
          </p:cNvSpPr>
          <p:nvPr userDrawn="1"/>
        </p:nvSpPr>
        <p:spPr>
          <a:xfrm>
            <a:off x="158720" y="413891"/>
            <a:ext cx="10025576" cy="685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3075D7-F006-A81F-68F1-A5F218FAF004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554" y="6358271"/>
            <a:ext cx="964436" cy="41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482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4" Type="http://schemas.microsoft.com/office/2007/relationships/hdphoto" Target="../media/hdphoto3.wdp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M.Tech/MCA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125951" y="1177578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180236" y="1659822"/>
            <a:ext cx="11428184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Review II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1" dirty="0">
                <a:solidFill>
                  <a:prstClr val="white"/>
                </a:solidFill>
                <a:cs typeface="Calibri" panose="020F0502020204030204" pitchFamily="34" charset="0"/>
              </a:rPr>
              <a:t>1. LA BOT – Indian Legal Advisor Bot &amp; Advocate Connect</a:t>
            </a:r>
          </a:p>
          <a:p>
            <a:pPr lvl="0" algn="ctr">
              <a:defRPr/>
            </a:pPr>
            <a:r>
              <a:rPr lang="en-US" sz="2800" b="1" dirty="0">
                <a:solidFill>
                  <a:prstClr val="white"/>
                </a:solidFill>
                <a:cs typeface="Calibri" panose="020F0502020204030204" pitchFamily="34" charset="0"/>
              </a:rPr>
              <a:t>2. WorkWell AI – Employee Wellness Early-Warning Platform</a:t>
            </a:r>
            <a:endParaRPr lang="en-US" sz="3600" b="1" dirty="0">
              <a:solidFill>
                <a:prstClr val="white"/>
              </a:solidFill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  <a:p>
            <a:pPr lvl="0"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Team Member</a:t>
            </a:r>
          </a:p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Santhosh Rajinikanth</a:t>
            </a:r>
          </a:p>
          <a:p>
            <a:pPr lvl="0" algn="ctr">
              <a:defRPr/>
            </a:pPr>
            <a:endParaRPr lang="en-US" sz="5400" b="1" dirty="0">
              <a:solidFill>
                <a:prstClr val="white"/>
              </a:solidFill>
              <a:latin typeface="Frutiger 45 bold"/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/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9" name="Picture 2" descr="LTIMindtree - Technology Consulting and Digital Solutions Company">
            <a:extLst>
              <a:ext uri="{FF2B5EF4-FFF2-40B4-BE49-F238E27FC236}">
                <a16:creationId xmlns:a16="http://schemas.microsoft.com/office/drawing/2014/main" id="{B3D78849-E5F7-1DB2-227F-1424458612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52667"/>
            <a:ext cx="3886489" cy="864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9507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726612-73E0-5A94-F635-3A742DD5BA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6032" y="1271016"/>
            <a:ext cx="10607040" cy="2377440"/>
          </a:xfrm>
        </p:spPr>
        <p:txBody>
          <a:bodyPr/>
          <a:lstStyle/>
          <a:p>
            <a:pPr marL="342900" indent="-342900">
              <a:lnSpc>
                <a:spcPct val="100000"/>
              </a:lnSpc>
              <a:spcBef>
                <a:spcPts val="1000"/>
              </a:spcBef>
              <a:buClr>
                <a:srgbClr val="5583D1"/>
              </a:buClr>
              <a:buFont typeface="Arial"/>
              <a:buChar char="•"/>
            </a:pPr>
            <a:r>
              <a:rPr lang="en-US" sz="2400" b="0" i="0" dirty="0">
                <a:solidFill>
                  <a:srgbClr val="242424"/>
                </a:solidFill>
                <a:latin typeface="+mn-lt"/>
                <a:cs typeface="Calibri"/>
              </a:rPr>
              <a:t>Indian law is scattered across many Acts — hard for common users to follow</a:t>
            </a:r>
          </a:p>
          <a:p>
            <a:pPr marL="342900" indent="-342900">
              <a:lnSpc>
                <a:spcPct val="100000"/>
              </a:lnSpc>
              <a:spcBef>
                <a:spcPts val="1000"/>
              </a:spcBef>
              <a:buClr>
                <a:srgbClr val="5583D1"/>
              </a:buClr>
              <a:buFont typeface="Arial"/>
              <a:buChar char="•"/>
            </a:pPr>
            <a:r>
              <a:rPr lang="en-US" sz="2400" b="1" i="0" dirty="0">
                <a:solidFill>
                  <a:srgbClr val="242424"/>
                </a:solidFill>
                <a:latin typeface="+mn-lt"/>
                <a:cs typeface="Calibri"/>
              </a:rPr>
              <a:t>LA BOT</a:t>
            </a:r>
            <a:r>
              <a:rPr lang="en-US" sz="2400" b="0" i="0" dirty="0">
                <a:solidFill>
                  <a:srgbClr val="242424"/>
                </a:solidFill>
                <a:latin typeface="+mn-lt"/>
                <a:cs typeface="Calibri"/>
              </a:rPr>
              <a:t xml:space="preserve"> is an AI legal-information assistant for Indian users and businesses</a:t>
            </a:r>
          </a:p>
          <a:p>
            <a:pPr marL="342900" indent="-342900">
              <a:lnSpc>
                <a:spcPct val="100000"/>
              </a:lnSpc>
              <a:spcBef>
                <a:spcPts val="1000"/>
              </a:spcBef>
              <a:buClr>
                <a:srgbClr val="5583D1"/>
              </a:buClr>
              <a:buFont typeface="Arial"/>
              <a:buChar char="•"/>
            </a:pPr>
            <a:r>
              <a:rPr lang="en-US" sz="2400" b="0" i="0" dirty="0">
                <a:solidFill>
                  <a:srgbClr val="242424"/>
                </a:solidFill>
                <a:latin typeface="+mn-lt"/>
                <a:cs typeface="Calibri"/>
              </a:rPr>
              <a:t xml:space="preserve">Answers come only from </a:t>
            </a:r>
            <a:r>
              <a:rPr lang="en-US" sz="2400" b="1" i="0" dirty="0">
                <a:solidFill>
                  <a:srgbClr val="242424"/>
                </a:solidFill>
                <a:latin typeface="+mn-lt"/>
                <a:cs typeface="Calibri"/>
              </a:rPr>
              <a:t>verified Indian legal sources</a:t>
            </a:r>
            <a:r>
              <a:rPr lang="en-US" sz="2400" b="0" i="0" dirty="0">
                <a:solidFill>
                  <a:srgbClr val="242424"/>
                </a:solidFill>
                <a:latin typeface="+mn-lt"/>
                <a:cs typeface="Calibri"/>
              </a:rPr>
              <a:t>, with citations</a:t>
            </a:r>
          </a:p>
          <a:p>
            <a:pPr marL="342900" indent="-342900">
              <a:lnSpc>
                <a:spcPct val="100000"/>
              </a:lnSpc>
              <a:spcBef>
                <a:spcPts val="1000"/>
              </a:spcBef>
              <a:buClr>
                <a:srgbClr val="5583D1"/>
              </a:buClr>
              <a:buFont typeface="Arial"/>
              <a:buChar char="•"/>
            </a:pPr>
            <a:r>
              <a:rPr lang="en-US" sz="2400" b="0" i="0" dirty="0">
                <a:solidFill>
                  <a:srgbClr val="242424"/>
                </a:solidFill>
                <a:latin typeface="+mn-lt"/>
                <a:cs typeface="Calibri"/>
              </a:rPr>
              <a:t xml:space="preserve">Complex matters go to a </a:t>
            </a:r>
            <a:r>
              <a:rPr lang="en-US" sz="2400" b="1" i="0" dirty="0">
                <a:solidFill>
                  <a:srgbClr val="242424"/>
                </a:solidFill>
                <a:latin typeface="+mn-lt"/>
                <a:cs typeface="Calibri"/>
              </a:rPr>
              <a:t>verified advocate</a:t>
            </a:r>
            <a:r>
              <a:rPr lang="en-US" sz="2400" b="0" i="0" dirty="0">
                <a:solidFill>
                  <a:srgbClr val="242424"/>
                </a:solidFill>
                <a:latin typeface="+mn-lt"/>
                <a:cs typeface="Calibri"/>
              </a:rPr>
              <a:t xml:space="preserve"> — the bot never acts as a lawyer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LA BOT – Indian Legal Advisor Bot</a:t>
            </a:r>
          </a:p>
        </p:txBody>
      </p:sp>
      <p:sp>
        <p:nvSpPr>
          <p:cNvPr id="101" name="Shape 101"/>
          <p:cNvSpPr/>
          <p:nvPr/>
        </p:nvSpPr>
        <p:spPr>
          <a:xfrm>
            <a:off x="411480" y="3749040"/>
            <a:ext cx="2468880" cy="777240"/>
          </a:xfrm>
          <a:prstGeom prst="roundRect">
            <a:avLst>
              <a:gd name="adj" fmla="val 12000"/>
            </a:avLst>
          </a:prstGeom>
          <a:solidFill>
            <a:srgbClr val="1C4D98"/>
          </a:solidFill>
          <a:ln>
            <a:noFill/>
          </a:ln>
        </p:spPr>
        <p:txBody>
          <a:bodyPr wrap="square" lIns="54864" tIns="54864" rIns="54864" bIns="54864" anchor="ctr" rtlCol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FFFFFF"/>
                </a:solidFill>
                <a:latin typeface="+mn-lt"/>
                <a:cs typeface="Calibri"/>
              </a:rPr>
              <a:t>Ask a legal question</a:t>
            </a:r>
            <a:endParaRPr lang="en-US" sz="1600" dirty="0"/>
          </a:p>
        </p:txBody>
      </p:sp>
      <p:sp>
        <p:nvSpPr>
          <p:cNvPr id="102" name="Shape 102"/>
          <p:cNvSpPr/>
          <p:nvPr/>
        </p:nvSpPr>
        <p:spPr>
          <a:xfrm>
            <a:off x="3383280" y="3749040"/>
            <a:ext cx="2468880" cy="777240"/>
          </a:xfrm>
          <a:prstGeom prst="roundRect">
            <a:avLst>
              <a:gd name="adj" fmla="val 12000"/>
            </a:avLst>
          </a:prstGeom>
          <a:solidFill>
            <a:srgbClr val="2A6DB0"/>
          </a:solidFill>
          <a:ln>
            <a:noFill/>
          </a:ln>
        </p:spPr>
        <p:txBody>
          <a:bodyPr wrap="square" lIns="54864" tIns="54864" rIns="54864" bIns="54864" anchor="ctr" rtlCol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FFFFFF"/>
                </a:solidFill>
                <a:latin typeface="+mn-lt"/>
                <a:cs typeface="Calibri"/>
              </a:rPr>
              <a:t>Search verified Acts</a:t>
            </a:r>
            <a:endParaRPr lang="en-US" sz="1600" dirty="0"/>
          </a:p>
        </p:txBody>
      </p:sp>
      <p:cxnSp>
        <p:nvCxnSpPr>
          <p:cNvPr id="103" name="Arrow 103"/>
          <p:cNvCxnSpPr/>
          <p:nvPr/>
        </p:nvCxnSpPr>
        <p:spPr>
          <a:xfrm>
            <a:off x="2916936" y="4137660"/>
            <a:ext cx="429768" cy="0"/>
          </a:xfrm>
          <a:prstGeom prst="straightConnector1">
            <a:avLst/>
          </a:prstGeom>
          <a:ln w="22225">
            <a:solidFill>
              <a:srgbClr val="8497B0"/>
            </a:solidFill>
            <a:tailEnd type="triangle" w="med" len="med"/>
          </a:ln>
        </p:spPr>
      </p:cxnSp>
      <p:sp>
        <p:nvSpPr>
          <p:cNvPr id="104" name="Shape 104"/>
          <p:cNvSpPr/>
          <p:nvPr/>
        </p:nvSpPr>
        <p:spPr>
          <a:xfrm>
            <a:off x="6355080" y="3749040"/>
            <a:ext cx="2468880" cy="777240"/>
          </a:xfrm>
          <a:prstGeom prst="roundRect">
            <a:avLst>
              <a:gd name="adj" fmla="val 12000"/>
            </a:avLst>
          </a:prstGeom>
          <a:solidFill>
            <a:srgbClr val="3793A6"/>
          </a:solidFill>
          <a:ln>
            <a:noFill/>
          </a:ln>
        </p:spPr>
        <p:txBody>
          <a:bodyPr wrap="square" lIns="54864" tIns="54864" rIns="54864" bIns="54864" anchor="ctr" rtlCol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FFFFFF"/>
                </a:solidFill>
                <a:latin typeface="+mn-lt"/>
                <a:cs typeface="Calibri"/>
              </a:rPr>
              <a:t>Cited answer</a:t>
            </a:r>
            <a:endParaRPr lang="en-US" sz="1600" dirty="0"/>
          </a:p>
        </p:txBody>
      </p:sp>
      <p:cxnSp>
        <p:nvCxnSpPr>
          <p:cNvPr id="105" name="Arrow 105"/>
          <p:cNvCxnSpPr/>
          <p:nvPr/>
        </p:nvCxnSpPr>
        <p:spPr>
          <a:xfrm>
            <a:off x="5888736" y="4137660"/>
            <a:ext cx="429768" cy="0"/>
          </a:xfrm>
          <a:prstGeom prst="straightConnector1">
            <a:avLst/>
          </a:prstGeom>
          <a:ln w="22225">
            <a:solidFill>
              <a:srgbClr val="8497B0"/>
            </a:solidFill>
            <a:tailEnd type="triangle" w="med" len="med"/>
          </a:ln>
        </p:spPr>
      </p:cxnSp>
      <p:sp>
        <p:nvSpPr>
          <p:cNvPr id="106" name="Shape 106"/>
          <p:cNvSpPr/>
          <p:nvPr/>
        </p:nvSpPr>
        <p:spPr>
          <a:xfrm>
            <a:off x="9326880" y="3749040"/>
            <a:ext cx="2468880" cy="777240"/>
          </a:xfrm>
          <a:prstGeom prst="roundRect">
            <a:avLst>
              <a:gd name="adj" fmla="val 12000"/>
            </a:avLst>
          </a:prstGeom>
          <a:solidFill>
            <a:srgbClr val="47BDAF"/>
          </a:solidFill>
          <a:ln>
            <a:noFill/>
          </a:ln>
        </p:spPr>
        <p:txBody>
          <a:bodyPr wrap="square" lIns="54864" tIns="54864" rIns="54864" bIns="54864" anchor="ctr" rtlCol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FFFFFF"/>
                </a:solidFill>
                <a:latin typeface="+mn-lt"/>
                <a:cs typeface="Calibri"/>
              </a:rPr>
              <a:t>Advocate, if needed</a:t>
            </a:r>
            <a:endParaRPr lang="en-US" sz="1600" dirty="0"/>
          </a:p>
        </p:txBody>
      </p:sp>
      <p:cxnSp>
        <p:nvCxnSpPr>
          <p:cNvPr id="107" name="Arrow 107"/>
          <p:cNvCxnSpPr/>
          <p:nvPr/>
        </p:nvCxnSpPr>
        <p:spPr>
          <a:xfrm>
            <a:off x="8860536" y="4137660"/>
            <a:ext cx="429768" cy="0"/>
          </a:xfrm>
          <a:prstGeom prst="straightConnector1">
            <a:avLst/>
          </a:prstGeom>
          <a:ln w="22225">
            <a:solidFill>
              <a:srgbClr val="8497B0"/>
            </a:solidFill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208818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D551BF-43EB-C049-6D3B-4D17D57752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6032" y="1325880"/>
            <a:ext cx="10607040" cy="3931920"/>
          </a:xfrm>
        </p:spPr>
        <p:txBody>
          <a:bodyPr/>
          <a:lstStyle/>
          <a:p>
            <a:pPr marL="457200" indent="-457200">
              <a:lnSpc>
                <a:spcPct val="100000"/>
              </a:lnSpc>
              <a:spcBef>
                <a:spcPts val="1400"/>
              </a:spcBef>
              <a:buClr>
                <a:srgbClr val="5583D1"/>
              </a:buClr>
              <a:buFont typeface="+mj-lt"/>
              <a:buAutoNum type="arabicPeriod"/>
            </a:pPr>
            <a:r>
              <a:rPr lang="en-US" sz="2400" b="0" i="0" dirty="0">
                <a:solidFill>
                  <a:srgbClr val="242424"/>
                </a:solidFill>
                <a:latin typeface="+mn-lt"/>
                <a:cs typeface="Calibri"/>
              </a:rPr>
              <a:t xml:space="preserve">Give accurate, </a:t>
            </a:r>
            <a:r>
              <a:rPr lang="en-US" sz="2400" b="1" i="0" dirty="0">
                <a:solidFill>
                  <a:srgbClr val="242424"/>
                </a:solidFill>
                <a:latin typeface="+mn-lt"/>
                <a:cs typeface="Calibri"/>
              </a:rPr>
              <a:t>cited answers</a:t>
            </a:r>
            <a:r>
              <a:rPr lang="en-US" sz="2400" b="0" i="0" dirty="0">
                <a:solidFill>
                  <a:srgbClr val="242424"/>
                </a:solidFill>
                <a:latin typeface="+mn-lt"/>
                <a:cs typeface="Calibri"/>
              </a:rPr>
              <a:t xml:space="preserve"> on Indian IT, business and IP law</a:t>
            </a:r>
          </a:p>
          <a:p>
            <a:pPr marL="457200" indent="-457200">
              <a:lnSpc>
                <a:spcPct val="100000"/>
              </a:lnSpc>
              <a:spcBef>
                <a:spcPts val="1400"/>
              </a:spcBef>
              <a:buClr>
                <a:srgbClr val="5583D1"/>
              </a:buClr>
              <a:buFont typeface="+mj-lt"/>
              <a:buAutoNum type="arabicPeriod"/>
            </a:pPr>
            <a:r>
              <a:rPr lang="en-US" sz="2400" b="0" i="0" dirty="0">
                <a:solidFill>
                  <a:srgbClr val="242424"/>
                </a:solidFill>
                <a:latin typeface="+mn-lt"/>
                <a:cs typeface="Calibri"/>
              </a:rPr>
              <a:t xml:space="preserve">Never guess — reply </a:t>
            </a:r>
            <a:r>
              <a:rPr lang="en-US" sz="2400" b="1" i="0" dirty="0">
                <a:solidFill>
                  <a:srgbClr val="242424"/>
                </a:solidFill>
                <a:latin typeface="+mn-lt"/>
                <a:cs typeface="Calibri"/>
              </a:rPr>
              <a:t>“insufficient verified information”</a:t>
            </a:r>
            <a:r>
              <a:rPr lang="en-US" sz="2400" b="0" i="0" dirty="0">
                <a:solidFill>
                  <a:srgbClr val="242424"/>
                </a:solidFill>
                <a:latin typeface="+mn-lt"/>
                <a:cs typeface="Calibri"/>
              </a:rPr>
              <a:t xml:space="preserve"> when unsure</a:t>
            </a:r>
          </a:p>
          <a:p>
            <a:pPr marL="457200" indent="-457200">
              <a:lnSpc>
                <a:spcPct val="100000"/>
              </a:lnSpc>
              <a:spcBef>
                <a:spcPts val="1400"/>
              </a:spcBef>
              <a:buClr>
                <a:srgbClr val="5583D1"/>
              </a:buClr>
              <a:buFont typeface="+mj-lt"/>
              <a:buAutoNum type="arabicPeriod"/>
            </a:pPr>
            <a:r>
              <a:rPr lang="en-US" sz="2400" b="0" i="0" dirty="0">
                <a:solidFill>
                  <a:srgbClr val="242424"/>
                </a:solidFill>
                <a:latin typeface="+mn-lt"/>
                <a:cs typeface="Calibri"/>
              </a:rPr>
              <a:t xml:space="preserve">Flag </a:t>
            </a:r>
            <a:r>
              <a:rPr lang="en-US" sz="2400" b="1" i="0" dirty="0">
                <a:solidFill>
                  <a:srgbClr val="242424"/>
                </a:solidFill>
                <a:latin typeface="+mn-lt"/>
                <a:cs typeface="Calibri"/>
              </a:rPr>
              <a:t>high-risk queries</a:t>
            </a:r>
            <a:r>
              <a:rPr lang="en-US" sz="2400" b="0" i="0" dirty="0">
                <a:solidFill>
                  <a:srgbClr val="242424"/>
                </a:solidFill>
                <a:latin typeface="+mn-lt"/>
                <a:cs typeface="Calibri"/>
              </a:rPr>
              <a:t xml:space="preserve"> and recommend a professional advocate</a:t>
            </a:r>
          </a:p>
          <a:p>
            <a:pPr marL="457200" indent="-457200">
              <a:lnSpc>
                <a:spcPct val="100000"/>
              </a:lnSpc>
              <a:spcBef>
                <a:spcPts val="1400"/>
              </a:spcBef>
              <a:buClr>
                <a:srgbClr val="5583D1"/>
              </a:buClr>
              <a:buFont typeface="+mj-lt"/>
              <a:buAutoNum type="arabicPeriod"/>
            </a:pPr>
            <a:r>
              <a:rPr lang="en-US" sz="2400" b="0" i="0" dirty="0">
                <a:solidFill>
                  <a:srgbClr val="242424"/>
                </a:solidFill>
                <a:latin typeface="+mn-lt"/>
                <a:cs typeface="Calibri"/>
              </a:rPr>
              <a:t xml:space="preserve">Help users </a:t>
            </a:r>
            <a:r>
              <a:rPr lang="en-US" sz="2400" b="1" i="0" dirty="0">
                <a:solidFill>
                  <a:srgbClr val="242424"/>
                </a:solidFill>
                <a:latin typeface="+mn-lt"/>
                <a:cs typeface="Calibri"/>
              </a:rPr>
              <a:t>draft common legal documents</a:t>
            </a:r>
            <a:r>
              <a:rPr lang="en-US" sz="2400" b="0" i="0" dirty="0">
                <a:solidFill>
                  <a:srgbClr val="242424"/>
                </a:solidFill>
                <a:latin typeface="+mn-lt"/>
                <a:cs typeface="Calibri"/>
              </a:rPr>
              <a:t xml:space="preserve"> step by step</a:t>
            </a:r>
          </a:p>
          <a:p>
            <a:pPr marL="457200" indent="-457200">
              <a:lnSpc>
                <a:spcPct val="100000"/>
              </a:lnSpc>
              <a:spcBef>
                <a:spcPts val="1400"/>
              </a:spcBef>
              <a:buClr>
                <a:srgbClr val="5583D1"/>
              </a:buClr>
              <a:buFont typeface="+mj-lt"/>
              <a:buAutoNum type="arabicPeriod"/>
            </a:pPr>
            <a:r>
              <a:rPr lang="en-US" sz="2400" b="0" i="0" dirty="0">
                <a:solidFill>
                  <a:srgbClr val="242424"/>
                </a:solidFill>
                <a:latin typeface="+mn-lt"/>
                <a:cs typeface="Calibri"/>
              </a:rPr>
              <a:t xml:space="preserve">Connect users with </a:t>
            </a:r>
            <a:r>
              <a:rPr lang="en-US" sz="2400" b="1" i="0" dirty="0">
                <a:solidFill>
                  <a:srgbClr val="242424"/>
                </a:solidFill>
                <a:latin typeface="+mn-lt"/>
                <a:cs typeface="Calibri"/>
              </a:rPr>
              <a:t>verified advocates</a:t>
            </a:r>
            <a:r>
              <a:rPr lang="en-US" sz="2400" b="0" i="0" dirty="0">
                <a:solidFill>
                  <a:srgbClr val="242424"/>
                </a:solidFill>
                <a:latin typeface="+mn-lt"/>
                <a:cs typeface="Calibri"/>
              </a:rPr>
              <a:t xml:space="preserve"> by area, state and language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Objective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4452DD5-D934-4955-F39B-2109AC72692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LA BOT – Indian Legal Advisor Bot</a:t>
            </a:r>
          </a:p>
        </p:txBody>
      </p:sp>
    </p:spTree>
    <p:extLst>
      <p:ext uri="{BB962C8B-B14F-4D97-AF65-F5344CB8AC3E}">
        <p14:creationId xmlns:p14="http://schemas.microsoft.com/office/powerpoint/2010/main" val="1739450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6032" y="1271016"/>
            <a:ext cx="10607040" cy="3931920"/>
          </a:xfrm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2400" b="1" i="0" dirty="0">
                <a:solidFill>
                  <a:srgbClr val="5583D1"/>
                </a:solidFill>
                <a:latin typeface="+mn-lt"/>
                <a:cs typeface="Calibri"/>
              </a:rPr>
              <a:t>Grounded, cited legal answers</a:t>
            </a:r>
          </a:p>
          <a:p>
            <a:pPr marL="342900" indent="-342900">
              <a:lnSpc>
                <a:spcPct val="100000"/>
              </a:lnSpc>
              <a:spcBef>
                <a:spcPts val="1000"/>
              </a:spcBef>
              <a:buClr>
                <a:srgbClr val="5583D1"/>
              </a:buClr>
              <a:buFont typeface="Arial"/>
              <a:buChar char="•"/>
            </a:pPr>
            <a:r>
              <a:rPr lang="en-US" sz="2200" b="1" i="0" dirty="0">
                <a:solidFill>
                  <a:srgbClr val="242424"/>
                </a:solidFill>
                <a:latin typeface="+mn-lt"/>
                <a:cs typeface="Calibri"/>
              </a:rPr>
              <a:t>15 official central Acts</a:t>
            </a:r>
            <a:r>
              <a:rPr lang="en-US" sz="2200" b="0" i="0" dirty="0">
                <a:solidFill>
                  <a:srgbClr val="242424"/>
                </a:solidFill>
                <a:latin typeface="+mn-lt"/>
                <a:cs typeface="Calibri"/>
              </a:rPr>
              <a:t xml:space="preserve"> ingested from India Code and MeitY</a:t>
            </a:r>
          </a:p>
          <a:p>
            <a:pPr marL="342900" indent="-342900">
              <a:lnSpc>
                <a:spcPct val="100000"/>
              </a:lnSpc>
              <a:spcBef>
                <a:spcPts val="1000"/>
              </a:spcBef>
              <a:buClr>
                <a:srgbClr val="5583D1"/>
              </a:buClr>
              <a:buFont typeface="Arial"/>
              <a:buChar char="•"/>
            </a:pPr>
            <a:r>
              <a:rPr lang="en-US" sz="2200" b="1" i="0" dirty="0">
                <a:solidFill>
                  <a:srgbClr val="242424"/>
                </a:solidFill>
                <a:latin typeface="+mn-lt"/>
                <a:cs typeface="Calibri"/>
              </a:rPr>
              <a:t>Hybrid search:</a:t>
            </a:r>
            <a:r>
              <a:rPr lang="en-US" sz="2200" b="0" i="0" dirty="0">
                <a:solidFill>
                  <a:srgbClr val="242424"/>
                </a:solidFill>
                <a:latin typeface="+mn-lt"/>
                <a:cs typeface="Calibri"/>
              </a:rPr>
              <a:t xml:space="preserve"> meaning (pgvector) + exact keywords (full-text)</a:t>
            </a:r>
          </a:p>
          <a:p>
            <a:pPr marL="342900" indent="-342900">
              <a:lnSpc>
                <a:spcPct val="100000"/>
              </a:lnSpc>
              <a:spcBef>
                <a:spcPts val="1000"/>
              </a:spcBef>
              <a:buClr>
                <a:srgbClr val="5583D1"/>
              </a:buClr>
              <a:buFont typeface="Arial"/>
              <a:buChar char="•"/>
            </a:pPr>
            <a:r>
              <a:rPr lang="en-US" sz="2200" b="0" i="0" dirty="0">
                <a:solidFill>
                  <a:srgbClr val="242424"/>
                </a:solidFill>
                <a:latin typeface="+mn-lt"/>
                <a:cs typeface="Calibri"/>
              </a:rPr>
              <a:t xml:space="preserve">Answers are </a:t>
            </a:r>
            <a:r>
              <a:rPr lang="en-US" sz="2200" b="1" i="0" dirty="0">
                <a:solidFill>
                  <a:srgbClr val="242424"/>
                </a:solidFill>
                <a:latin typeface="+mn-lt"/>
                <a:cs typeface="Calibri"/>
              </a:rPr>
              <a:t>streamed live</a:t>
            </a:r>
            <a:r>
              <a:rPr lang="en-US" sz="2200" b="0" i="0" dirty="0">
                <a:solidFill>
                  <a:srgbClr val="242424"/>
                </a:solidFill>
                <a:latin typeface="+mn-lt"/>
                <a:cs typeface="Calibri"/>
              </a:rPr>
              <a:t xml:space="preserve"> with </a:t>
            </a:r>
            <a:r>
              <a:rPr lang="en-US" sz="2200" b="1" i="0" dirty="0">
                <a:solidFill>
                  <a:srgbClr val="242424"/>
                </a:solidFill>
                <a:latin typeface="+mn-lt"/>
                <a:cs typeface="Calibri"/>
              </a:rPr>
              <a:t>[n] source citations</a:t>
            </a:r>
          </a:p>
          <a:p>
            <a:pPr marL="342900" indent="-342900">
              <a:lnSpc>
                <a:spcPct val="100000"/>
              </a:lnSpc>
              <a:spcBef>
                <a:spcPts val="1000"/>
              </a:spcBef>
              <a:buClr>
                <a:srgbClr val="5583D1"/>
              </a:buClr>
              <a:buFont typeface="Arial"/>
              <a:buChar char="•"/>
            </a:pPr>
            <a:r>
              <a:rPr lang="en-US" sz="2200" b="0" i="0" dirty="0">
                <a:solidFill>
                  <a:srgbClr val="242424"/>
                </a:solidFill>
                <a:latin typeface="+mn-lt"/>
                <a:cs typeface="Calibri"/>
              </a:rPr>
              <a:t xml:space="preserve">No matching source → </a:t>
            </a:r>
            <a:r>
              <a:rPr lang="en-US" sz="2200" b="1" i="0" dirty="0">
                <a:solidFill>
                  <a:srgbClr val="242424"/>
                </a:solidFill>
                <a:latin typeface="+mn-lt"/>
                <a:cs typeface="Calibri"/>
              </a:rPr>
              <a:t>“insufficient verified information”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Module 1 – Knowledge Base &amp; RAG Chat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rgbClr val="FFFFFF"/>
                </a:solidFill>
              </a:rPr>
              <a:t>LA BOT – Indian Legal Advisor Bot</a:t>
            </a:r>
          </a:p>
        </p:txBody>
      </p:sp>
      <p:sp>
        <p:nvSpPr>
          <p:cNvPr id="101" name="Shape 101"/>
          <p:cNvSpPr/>
          <p:nvPr/>
        </p:nvSpPr>
        <p:spPr>
          <a:xfrm>
            <a:off x="822960" y="3840480"/>
            <a:ext cx="3413760" cy="1051560"/>
          </a:xfrm>
          <a:prstGeom prst="roundRect">
            <a:avLst>
              <a:gd name="adj" fmla="val 10000"/>
            </a:avLst>
          </a:prstGeom>
          <a:solidFill>
            <a:srgbClr val="F5F9FD"/>
          </a:solidFill>
          <a:ln w="12700">
            <a:solidFill>
              <a:srgbClr val="C9D6E8"/>
            </a:solidFill>
          </a:ln>
        </p:spPr>
        <p:txBody>
          <a:bodyPr wrap="square" lIns="54864" tIns="54864" rIns="54864" bIns="54864" anchor="ctr" rtlCol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dirty="0">
                <a:solidFill>
                  <a:srgbClr val="1C4D98"/>
                </a:solidFill>
                <a:latin typeface="+mn-lt"/>
                <a:cs typeface="Calibri"/>
              </a:rPr>
              <a:t>15</a:t>
            </a:r>
            <a:endParaRPr lang="en-US" sz="3200" dirty="0"/>
          </a:p>
          <a:p>
            <a:pPr marL="0" indent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404040"/>
                </a:solidFill>
                <a:latin typeface="+mn-lt"/>
                <a:cs typeface="Calibri"/>
              </a:rPr>
              <a:t>official Acts indexed</a:t>
            </a:r>
            <a:endParaRPr lang="en-US" sz="1400" dirty="0"/>
          </a:p>
        </p:txBody>
      </p:sp>
      <p:sp>
        <p:nvSpPr>
          <p:cNvPr id="102" name="Shape 102"/>
          <p:cNvSpPr/>
          <p:nvPr/>
        </p:nvSpPr>
        <p:spPr>
          <a:xfrm>
            <a:off x="4602480" y="3840480"/>
            <a:ext cx="3413760" cy="1051560"/>
          </a:xfrm>
          <a:prstGeom prst="roundRect">
            <a:avLst>
              <a:gd name="adj" fmla="val 10000"/>
            </a:avLst>
          </a:prstGeom>
          <a:solidFill>
            <a:srgbClr val="F5F9FD"/>
          </a:solidFill>
          <a:ln w="12700">
            <a:solidFill>
              <a:srgbClr val="C9D6E8"/>
            </a:solidFill>
          </a:ln>
        </p:spPr>
        <p:txBody>
          <a:bodyPr wrap="square" lIns="54864" tIns="54864" rIns="54864" bIns="54864" anchor="ctr" rtlCol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dirty="0">
                <a:solidFill>
                  <a:srgbClr val="1C4D98"/>
                </a:solidFill>
                <a:latin typeface="+mn-lt"/>
                <a:cs typeface="Calibri"/>
              </a:rPr>
              <a:t>Top 6</a:t>
            </a:r>
            <a:endParaRPr lang="en-US" sz="3200" dirty="0"/>
          </a:p>
          <a:p>
            <a:pPr marL="0" indent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404040"/>
                </a:solidFill>
                <a:latin typeface="+mn-lt"/>
                <a:cs typeface="Calibri"/>
              </a:rPr>
              <a:t>passages used per answer</a:t>
            </a:r>
            <a:endParaRPr lang="en-US" sz="1400" dirty="0"/>
          </a:p>
        </p:txBody>
      </p:sp>
      <p:sp>
        <p:nvSpPr>
          <p:cNvPr id="103" name="Shape 103"/>
          <p:cNvSpPr/>
          <p:nvPr/>
        </p:nvSpPr>
        <p:spPr>
          <a:xfrm>
            <a:off x="8382000" y="3840480"/>
            <a:ext cx="3413760" cy="1051560"/>
          </a:xfrm>
          <a:prstGeom prst="roundRect">
            <a:avLst>
              <a:gd name="adj" fmla="val 10000"/>
            </a:avLst>
          </a:prstGeom>
          <a:solidFill>
            <a:srgbClr val="F5F9FD"/>
          </a:solidFill>
          <a:ln w="12700">
            <a:solidFill>
              <a:srgbClr val="C9D6E8"/>
            </a:solidFill>
          </a:ln>
        </p:spPr>
        <p:txBody>
          <a:bodyPr wrap="square" lIns="54864" tIns="54864" rIns="54864" bIns="54864" anchor="ctr" rtlCol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dirty="0">
                <a:solidFill>
                  <a:srgbClr val="1C4D98"/>
                </a:solidFill>
                <a:latin typeface="+mn-lt"/>
                <a:cs typeface="Calibri"/>
              </a:rPr>
              <a:t>2 → 1</a:t>
            </a:r>
            <a:endParaRPr lang="en-US" sz="3200" dirty="0"/>
          </a:p>
          <a:p>
            <a:pPr marL="0" indent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404040"/>
                </a:solidFill>
                <a:latin typeface="+mn-lt"/>
                <a:cs typeface="Calibri"/>
              </a:rPr>
              <a:t>result lists fused with RRF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D7CD-C158-6FC1-06C7-09444D2D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B15F4B8-EED0-F7BE-96C7-D7AAE989A2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/>
              </a:rPr>
              <a:t>Methodology / Modeling Plan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882B44-FCE4-BF93-E951-46CF2238FB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CE164B1-01DD-BF3B-88E8-DF2DEDBFA9EB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LA BOT – Indian Legal Advisor Bot</a:t>
            </a:r>
          </a:p>
        </p:txBody>
      </p:sp>
      <p:graphicFrame>
        <p:nvGraphicFramePr>
          <p:cNvPr id="101" name="Table 101"/>
          <p:cNvGraphicFramePr>
            <a:graphicFrameLocks noGrp="1"/>
          </p:cNvGraphicFramePr>
          <p:nvPr/>
        </p:nvGraphicFramePr>
        <p:xfrm>
          <a:off x="320040" y="1463040"/>
          <a:ext cx="11521440" cy="3328416"/>
        </p:xfrm>
        <a:graphic>
          <a:graphicData uri="http://schemas.openxmlformats.org/drawingml/2006/table">
            <a:tbl>
              <a:tblPr firstRow="1" bandRow="1"/>
              <a:tblGrid>
                <a:gridCol w="3931920"/>
                <a:gridCol w="7589520"/>
              </a:tblGrid>
              <a:tr h="475488">
                <a:tc>
                  <a:txBody>
                    <a:bodyPr/>
                    <a:lstStyle/>
                    <a:p>
                      <a:pPr algn="l"/>
                      <a:r>
                        <a:rPr lang="en-US" sz="1700" b="1" i="0" dirty="0">
                          <a:solidFill>
                            <a:srgbClr val="FFFFFF"/>
                          </a:solidFill>
                          <a:latin typeface="+mn-lt"/>
                          <a:cs typeface="Calibri"/>
                        </a:rPr>
                        <a:t>Design choice</a:t>
                      </a:r>
                      <a:endParaRPr lang="en-US" sz="1700" dirty="0"/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C9D6E8"/>
                      </a:solidFill>
                      <a:prstDash val="soli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</a:lnB>
                    <a:solidFill>
                      <a:srgbClr val="1C4D9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700" b="1" i="0" dirty="0">
                          <a:solidFill>
                            <a:srgbClr val="FFFFFF"/>
                          </a:solidFill>
                          <a:latin typeface="+mn-lt"/>
                          <a:cs typeface="Calibri"/>
                        </a:rPr>
                        <a:t>Why</a:t>
                      </a:r>
                      <a:endParaRPr lang="en-US" sz="1700" dirty="0"/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C9D6E8"/>
                      </a:solidFill>
                      <a:prstDash val="soli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</a:lnB>
                    <a:solidFill>
                      <a:srgbClr val="1C4D9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lang="en-US" sz="1600" b="1" i="0" dirty="0">
                          <a:solidFill>
                            <a:srgbClr val="2E4D6B"/>
                          </a:solidFill>
                          <a:latin typeface="+mn-lt"/>
                          <a:cs typeface="Calibri"/>
                        </a:rPr>
                        <a:t>Retrieval-Augmented Generation (RAG)</a:t>
                      </a:r>
                      <a:endParaRPr lang="en-US" sz="1600" dirty="0"/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C9D6E8"/>
                      </a:solidFill>
                      <a:prstDash val="soli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rgbClr val="242424"/>
                          </a:solidFill>
                          <a:latin typeface="+mn-lt"/>
                          <a:cs typeface="Calibri"/>
                        </a:rPr>
                        <a:t>Answers come from real law, not the LLM’s memory</a:t>
                      </a:r>
                      <a:endParaRPr lang="en-US" sz="1600" dirty="0"/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C9D6E8"/>
                      </a:solidFill>
                      <a:prstDash val="soli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</a:lnB>
                    <a:solidFill>
                      <a:srgbClr val="EAF2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lang="en-US" sz="1600" b="1" i="0" dirty="0">
                          <a:solidFill>
                            <a:srgbClr val="2E4D6B"/>
                          </a:solidFill>
                          <a:latin typeface="+mn-lt"/>
                          <a:cs typeface="Calibri"/>
                        </a:rPr>
                        <a:t>Hybrid search (vector + keyword)</a:t>
                      </a:r>
                      <a:endParaRPr lang="en-US" sz="1600" dirty="0"/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C9D6E8"/>
                      </a:solidFill>
                      <a:prstDash val="soli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rgbClr val="242424"/>
                          </a:solidFill>
                          <a:latin typeface="+mn-lt"/>
                          <a:cs typeface="Calibri"/>
                        </a:rPr>
                        <a:t>Catches both meaning and exact legal terms</a:t>
                      </a:r>
                      <a:endParaRPr lang="en-US" sz="1600" dirty="0"/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C9D6E8"/>
                      </a:solidFill>
                      <a:prstDash val="soli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lang="en-US" sz="1600" b="1" i="0" dirty="0">
                          <a:solidFill>
                            <a:srgbClr val="2E4D6B"/>
                          </a:solidFill>
                          <a:latin typeface="+mn-lt"/>
                          <a:cs typeface="Calibri"/>
                        </a:rPr>
                        <a:t>Reciprocal Rank Fusion (RRF)</a:t>
                      </a:r>
                      <a:endParaRPr lang="en-US" sz="1600" dirty="0"/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C9D6E8"/>
                      </a:solidFill>
                      <a:prstDash val="soli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rgbClr val="242424"/>
                          </a:solidFill>
                          <a:latin typeface="+mn-lt"/>
                          <a:cs typeface="Calibri"/>
                        </a:rPr>
                        <a:t>Free, reliable way to merge both result lists</a:t>
                      </a:r>
                      <a:endParaRPr lang="en-US" sz="1600" dirty="0"/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C9D6E8"/>
                      </a:solidFill>
                      <a:prstDash val="soli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</a:lnB>
                    <a:solidFill>
                      <a:srgbClr val="EAF2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lang="en-US" sz="1600" b="1" i="0" dirty="0">
                          <a:solidFill>
                            <a:srgbClr val="2E4D6B"/>
                          </a:solidFill>
                          <a:latin typeface="+mn-lt"/>
                          <a:cs typeface="Calibri"/>
                        </a:rPr>
                        <a:t>One LLM call for class + risk</a:t>
                      </a:r>
                      <a:endParaRPr lang="en-US" sz="1600" dirty="0"/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C9D6E8"/>
                      </a:solidFill>
                      <a:prstDash val="soli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rgbClr val="242424"/>
                          </a:solidFill>
                          <a:latin typeface="+mn-lt"/>
                          <a:cs typeface="Calibri"/>
                        </a:rPr>
                        <a:t>Lower cost, no conflicting judgements</a:t>
                      </a:r>
                      <a:endParaRPr lang="en-US" sz="1600" dirty="0"/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C9D6E8"/>
                      </a:solidFill>
                      <a:prstDash val="soli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lang="en-US" sz="1600" b="1" i="0" dirty="0">
                          <a:solidFill>
                            <a:srgbClr val="2E4D6B"/>
                          </a:solidFill>
                          <a:latin typeface="+mn-lt"/>
                          <a:cs typeface="Calibri"/>
                        </a:rPr>
                        <a:t>Fail-safe defaults</a:t>
                      </a:r>
                      <a:endParaRPr lang="en-US" sz="1600" dirty="0"/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C9D6E8"/>
                      </a:solidFill>
                      <a:prstDash val="soli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rgbClr val="242424"/>
                          </a:solidFill>
                          <a:latin typeface="+mn-lt"/>
                          <a:cs typeface="Calibri"/>
                        </a:rPr>
                        <a:t>Unclear risk → HIGH;  no source → no answer</a:t>
                      </a:r>
                      <a:endParaRPr lang="en-US" sz="1600" dirty="0"/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C9D6E8"/>
                      </a:solidFill>
                      <a:prstDash val="soli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</a:lnB>
                    <a:solidFill>
                      <a:srgbClr val="EAF2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lang="en-US" sz="1600" b="1" i="0" dirty="0">
                          <a:solidFill>
                            <a:srgbClr val="2E4D6B"/>
                          </a:solidFill>
                          <a:latin typeface="+mn-lt"/>
                          <a:cs typeface="Calibri"/>
                        </a:rPr>
                        <a:t>Provider-agnostic LLM layer</a:t>
                      </a:r>
                      <a:endParaRPr lang="en-US" sz="1600" dirty="0"/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C9D6E8"/>
                      </a:solidFill>
                      <a:prstDash val="soli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rgbClr val="242424"/>
                          </a:solidFill>
                          <a:latin typeface="+mn-lt"/>
                          <a:cs typeface="Calibri"/>
                        </a:rPr>
                        <a:t>Gemini (free), Groq, Ollama or Claude</a:t>
                      </a:r>
                      <a:endParaRPr lang="en-US" sz="1600" dirty="0"/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C9D6E8"/>
                      </a:solidFill>
                      <a:prstDash val="soli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34681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411E118-0427-BF72-3B78-1707B0D6E38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/>
              </a:rPr>
              <a:t>Data Preprocessing &amp; EDA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4F7A196-7B69-DD68-52A5-39CD9B799F7D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LA BOT – Indian Legal Advisor Bot</a:t>
            </a:r>
          </a:p>
        </p:txBody>
      </p:sp>
      <p:sp>
        <p:nvSpPr>
          <p:cNvPr id="101" name="Shape 101"/>
          <p:cNvSpPr/>
          <p:nvPr/>
        </p:nvSpPr>
        <p:spPr>
          <a:xfrm>
            <a:off x="320040" y="1417320"/>
            <a:ext cx="1691640" cy="548640"/>
          </a:xfrm>
          <a:prstGeom prst="roundRect">
            <a:avLst>
              <a:gd name="adj" fmla="val 12000"/>
            </a:avLst>
          </a:prstGeom>
          <a:solidFill>
            <a:srgbClr val="1C4D98"/>
          </a:solidFill>
          <a:ln>
            <a:noFill/>
          </a:ln>
        </p:spPr>
        <p:txBody>
          <a:bodyPr wrap="square" lIns="54864" tIns="54864" rIns="54864" bIns="54864" anchor="ctr" rtlCol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FFFFFF"/>
                </a:solidFill>
                <a:latin typeface="+mn-lt"/>
                <a:cs typeface="Calibri"/>
              </a:rPr>
              <a:t>Fetch</a:t>
            </a:r>
            <a:endParaRPr lang="en-US" sz="1600" dirty="0"/>
          </a:p>
        </p:txBody>
      </p:sp>
      <p:sp>
        <p:nvSpPr>
          <p:cNvPr id="102" name="Shape 102"/>
          <p:cNvSpPr/>
          <p:nvPr/>
        </p:nvSpPr>
        <p:spPr>
          <a:xfrm>
            <a:off x="2286000" y="1417320"/>
            <a:ext cx="1691640" cy="548640"/>
          </a:xfrm>
          <a:prstGeom prst="roundRect">
            <a:avLst>
              <a:gd name="adj" fmla="val 12000"/>
            </a:avLst>
          </a:prstGeom>
          <a:solidFill>
            <a:srgbClr val="245FA4"/>
          </a:solidFill>
          <a:ln>
            <a:noFill/>
          </a:ln>
        </p:spPr>
        <p:txBody>
          <a:bodyPr wrap="square" lIns="54864" tIns="54864" rIns="54864" bIns="54864" anchor="ctr" rtlCol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FFFFFF"/>
                </a:solidFill>
                <a:latin typeface="+mn-lt"/>
                <a:cs typeface="Calibri"/>
              </a:rPr>
              <a:t>Extract</a:t>
            </a:r>
            <a:endParaRPr lang="en-US" sz="1600" dirty="0"/>
          </a:p>
        </p:txBody>
      </p:sp>
      <p:cxnSp>
        <p:nvCxnSpPr>
          <p:cNvPr id="103" name="Arrow 103"/>
          <p:cNvCxnSpPr/>
          <p:nvPr/>
        </p:nvCxnSpPr>
        <p:spPr>
          <a:xfrm>
            <a:off x="2048256" y="1691640"/>
            <a:ext cx="201168" cy="0"/>
          </a:xfrm>
          <a:prstGeom prst="straightConnector1">
            <a:avLst/>
          </a:prstGeom>
          <a:ln w="22225">
            <a:solidFill>
              <a:srgbClr val="8497B0"/>
            </a:solidFill>
            <a:tailEnd type="triangle" w="med" len="med"/>
          </a:ln>
        </p:spPr>
      </p:cxnSp>
      <p:sp>
        <p:nvSpPr>
          <p:cNvPr id="104" name="Shape 104"/>
          <p:cNvSpPr/>
          <p:nvPr/>
        </p:nvSpPr>
        <p:spPr>
          <a:xfrm>
            <a:off x="4251960" y="1417320"/>
            <a:ext cx="1691640" cy="548640"/>
          </a:xfrm>
          <a:prstGeom prst="roundRect">
            <a:avLst>
              <a:gd name="adj" fmla="val 12000"/>
            </a:avLst>
          </a:prstGeom>
          <a:solidFill>
            <a:srgbClr val="2A6DB0"/>
          </a:solidFill>
          <a:ln>
            <a:noFill/>
          </a:ln>
        </p:spPr>
        <p:txBody>
          <a:bodyPr wrap="square" lIns="54864" tIns="54864" rIns="54864" bIns="54864" anchor="ctr" rtlCol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FFFFFF"/>
                </a:solidFill>
                <a:latin typeface="+mn-lt"/>
                <a:cs typeface="Calibri"/>
              </a:rPr>
              <a:t>Clean</a:t>
            </a:r>
            <a:endParaRPr lang="en-US" sz="1600" dirty="0"/>
          </a:p>
        </p:txBody>
      </p:sp>
      <p:cxnSp>
        <p:nvCxnSpPr>
          <p:cNvPr id="105" name="Arrow 105"/>
          <p:cNvCxnSpPr/>
          <p:nvPr/>
        </p:nvCxnSpPr>
        <p:spPr>
          <a:xfrm>
            <a:off x="4014216" y="1691640"/>
            <a:ext cx="201168" cy="0"/>
          </a:xfrm>
          <a:prstGeom prst="straightConnector1">
            <a:avLst/>
          </a:prstGeom>
          <a:ln w="22225">
            <a:solidFill>
              <a:srgbClr val="8497B0"/>
            </a:solidFill>
            <a:tailEnd type="triangle" w="med" len="med"/>
          </a:ln>
        </p:spPr>
      </p:cxnSp>
      <p:sp>
        <p:nvSpPr>
          <p:cNvPr id="106" name="Shape 106"/>
          <p:cNvSpPr/>
          <p:nvPr/>
        </p:nvSpPr>
        <p:spPr>
          <a:xfrm>
            <a:off x="6217920" y="1417320"/>
            <a:ext cx="1691640" cy="548640"/>
          </a:xfrm>
          <a:prstGeom prst="roundRect">
            <a:avLst>
              <a:gd name="adj" fmla="val 12000"/>
            </a:avLst>
          </a:prstGeom>
          <a:solidFill>
            <a:srgbClr val="2F80AB"/>
          </a:solidFill>
          <a:ln>
            <a:noFill/>
          </a:ln>
        </p:spPr>
        <p:txBody>
          <a:bodyPr wrap="square" lIns="54864" tIns="54864" rIns="54864" bIns="54864" anchor="ctr" rtlCol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FFFFFF"/>
                </a:solidFill>
                <a:latin typeface="+mn-lt"/>
                <a:cs typeface="Calibri"/>
              </a:rPr>
              <a:t>Chunk</a:t>
            </a:r>
            <a:endParaRPr lang="en-US" sz="1600" dirty="0"/>
          </a:p>
        </p:txBody>
      </p:sp>
      <p:cxnSp>
        <p:nvCxnSpPr>
          <p:cNvPr id="107" name="Arrow 107"/>
          <p:cNvCxnSpPr/>
          <p:nvPr/>
        </p:nvCxnSpPr>
        <p:spPr>
          <a:xfrm>
            <a:off x="5980176" y="1691640"/>
            <a:ext cx="201168" cy="0"/>
          </a:xfrm>
          <a:prstGeom prst="straightConnector1">
            <a:avLst/>
          </a:prstGeom>
          <a:ln w="22225">
            <a:solidFill>
              <a:srgbClr val="8497B0"/>
            </a:solidFill>
            <a:tailEnd type="triangle" w="med" len="med"/>
          </a:ln>
        </p:spPr>
      </p:cxnSp>
      <p:sp>
        <p:nvSpPr>
          <p:cNvPr id="108" name="Shape 108"/>
          <p:cNvSpPr/>
          <p:nvPr/>
        </p:nvSpPr>
        <p:spPr>
          <a:xfrm>
            <a:off x="8183880" y="1417320"/>
            <a:ext cx="1691640" cy="548640"/>
          </a:xfrm>
          <a:prstGeom prst="roundRect">
            <a:avLst>
              <a:gd name="adj" fmla="val 12000"/>
            </a:avLst>
          </a:prstGeom>
          <a:solidFill>
            <a:srgbClr val="3793A6"/>
          </a:solidFill>
          <a:ln>
            <a:noFill/>
          </a:ln>
        </p:spPr>
        <p:txBody>
          <a:bodyPr wrap="square" lIns="54864" tIns="54864" rIns="54864" bIns="54864" anchor="ctr" rtlCol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FFFFFF"/>
                </a:solidFill>
                <a:latin typeface="+mn-lt"/>
                <a:cs typeface="Calibri"/>
              </a:rPr>
              <a:t>Embed</a:t>
            </a:r>
            <a:endParaRPr lang="en-US" sz="1600" dirty="0"/>
          </a:p>
        </p:txBody>
      </p:sp>
      <p:cxnSp>
        <p:nvCxnSpPr>
          <p:cNvPr id="109" name="Arrow 109"/>
          <p:cNvCxnSpPr/>
          <p:nvPr/>
        </p:nvCxnSpPr>
        <p:spPr>
          <a:xfrm>
            <a:off x="7946136" y="1691640"/>
            <a:ext cx="201168" cy="0"/>
          </a:xfrm>
          <a:prstGeom prst="straightConnector1">
            <a:avLst/>
          </a:prstGeom>
          <a:ln w="22225">
            <a:solidFill>
              <a:srgbClr val="8497B0"/>
            </a:solidFill>
            <a:tailEnd type="triangle" w="med" len="med"/>
          </a:ln>
        </p:spPr>
      </p:cxnSp>
      <p:sp>
        <p:nvSpPr>
          <p:cNvPr id="110" name="Shape 110"/>
          <p:cNvSpPr/>
          <p:nvPr/>
        </p:nvSpPr>
        <p:spPr>
          <a:xfrm>
            <a:off x="10149840" y="1417320"/>
            <a:ext cx="1691640" cy="548640"/>
          </a:xfrm>
          <a:prstGeom prst="roundRect">
            <a:avLst>
              <a:gd name="adj" fmla="val 12000"/>
            </a:avLst>
          </a:prstGeom>
          <a:solidFill>
            <a:srgbClr val="47BDAF"/>
          </a:solidFill>
          <a:ln>
            <a:noFill/>
          </a:ln>
        </p:spPr>
        <p:txBody>
          <a:bodyPr wrap="square" lIns="54864" tIns="54864" rIns="54864" bIns="54864" anchor="ctr" rtlCol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FFFFFF"/>
                </a:solidFill>
                <a:latin typeface="+mn-lt"/>
                <a:cs typeface="Calibri"/>
              </a:rPr>
              <a:t>Store</a:t>
            </a:r>
            <a:endParaRPr lang="en-US" sz="1600" dirty="0"/>
          </a:p>
        </p:txBody>
      </p:sp>
      <p:cxnSp>
        <p:nvCxnSpPr>
          <p:cNvPr id="111" name="Arrow 111"/>
          <p:cNvCxnSpPr/>
          <p:nvPr/>
        </p:nvCxnSpPr>
        <p:spPr>
          <a:xfrm>
            <a:off x="9912096" y="1691640"/>
            <a:ext cx="201168" cy="0"/>
          </a:xfrm>
          <a:prstGeom prst="straightConnector1">
            <a:avLst/>
          </a:prstGeom>
          <a:ln w="22225">
            <a:solidFill>
              <a:srgbClr val="8497B0"/>
            </a:solidFill>
            <a:tailEnd type="triangle" w="med" len="med"/>
          </a:ln>
        </p:spPr>
      </p:cxnSp>
      <p:sp>
        <p:nvSpPr>
          <p:cNvPr id="112" name="Shape 112"/>
          <p:cNvSpPr/>
          <p:nvPr/>
        </p:nvSpPr>
        <p:spPr>
          <a:xfrm>
            <a:off x="320040" y="2029968"/>
            <a:ext cx="169164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595959"/>
                </a:solidFill>
                <a:latin typeface="+mn-lt"/>
                <a:cs typeface="Calibri"/>
              </a:rPr>
              <a:t>Official PDFs / HTML</a:t>
            </a:r>
            <a:endParaRPr lang="en-US" sz="1200" dirty="0"/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595959"/>
                </a:solidFill>
                <a:latin typeface="+mn-lt"/>
                <a:cs typeface="Calibri"/>
              </a:rPr>
              <a:t>(25 MB cap)</a:t>
            </a:r>
            <a:endParaRPr lang="en-US" sz="1200" dirty="0"/>
          </a:p>
        </p:txBody>
      </p:sp>
      <p:sp>
        <p:nvSpPr>
          <p:cNvPr id="113" name="Shape 113"/>
          <p:cNvSpPr/>
          <p:nvPr/>
        </p:nvSpPr>
        <p:spPr>
          <a:xfrm>
            <a:off x="2286000" y="2029968"/>
            <a:ext cx="169164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595959"/>
                </a:solidFill>
                <a:latin typeface="+mn-lt"/>
                <a:cs typeface="Calibri"/>
              </a:rPr>
              <a:t>pypdf,</a:t>
            </a:r>
            <a:endParaRPr lang="en-US" sz="1200" dirty="0"/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595959"/>
                </a:solidFill>
                <a:latin typeface="+mn-lt"/>
                <a:cs typeface="Calibri"/>
              </a:rPr>
              <a:t>BeautifulSoup</a:t>
            </a:r>
            <a:endParaRPr lang="en-US" sz="1200" dirty="0"/>
          </a:p>
        </p:txBody>
      </p:sp>
      <p:sp>
        <p:nvSpPr>
          <p:cNvPr id="114" name="Shape 114"/>
          <p:cNvSpPr/>
          <p:nvPr/>
        </p:nvSpPr>
        <p:spPr>
          <a:xfrm>
            <a:off x="4251960" y="2029968"/>
            <a:ext cx="169164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595959"/>
                </a:solidFill>
                <a:latin typeface="+mn-lt"/>
                <a:cs typeface="Calibri"/>
              </a:rPr>
              <a:t>Whitespace, page nos.,</a:t>
            </a:r>
            <a:endParaRPr lang="en-US" sz="1200" dirty="0"/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595959"/>
                </a:solidFill>
                <a:latin typeface="+mn-lt"/>
                <a:cs typeface="Calibri"/>
              </a:rPr>
              <a:t>Unicode noise</a:t>
            </a:r>
            <a:endParaRPr lang="en-US" sz="1200" dirty="0"/>
          </a:p>
        </p:txBody>
      </p:sp>
      <p:sp>
        <p:nvSpPr>
          <p:cNvPr id="115" name="Shape 115"/>
          <p:cNvSpPr/>
          <p:nvPr/>
        </p:nvSpPr>
        <p:spPr>
          <a:xfrm>
            <a:off x="6217920" y="2029968"/>
            <a:ext cx="169164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595959"/>
                </a:solidFill>
                <a:latin typeface="+mn-lt"/>
                <a:cs typeface="Calibri"/>
              </a:rPr>
              <a:t>~1500 chars,</a:t>
            </a:r>
            <a:endParaRPr lang="en-US" sz="1200" dirty="0"/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595959"/>
                </a:solidFill>
                <a:latin typeface="+mn-lt"/>
                <a:cs typeface="Calibri"/>
              </a:rPr>
              <a:t>200 overlap</a:t>
            </a:r>
            <a:endParaRPr lang="en-US" sz="1200" dirty="0"/>
          </a:p>
        </p:txBody>
      </p:sp>
      <p:sp>
        <p:nvSpPr>
          <p:cNvPr id="116" name="Shape 116"/>
          <p:cNvSpPr/>
          <p:nvPr/>
        </p:nvSpPr>
        <p:spPr>
          <a:xfrm>
            <a:off x="8183880" y="2029968"/>
            <a:ext cx="169164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595959"/>
                </a:solidFill>
                <a:latin typeface="+mn-lt"/>
                <a:cs typeface="Calibri"/>
              </a:rPr>
              <a:t>Gemini</a:t>
            </a:r>
            <a:endParaRPr lang="en-US" sz="1200" dirty="0"/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595959"/>
                </a:solidFill>
                <a:latin typeface="+mn-lt"/>
                <a:cs typeface="Calibri"/>
              </a:rPr>
              <a:t>embedding-001</a:t>
            </a:r>
            <a:endParaRPr lang="en-US" sz="1200" dirty="0"/>
          </a:p>
        </p:txBody>
      </p:sp>
      <p:sp>
        <p:nvSpPr>
          <p:cNvPr id="117" name="Shape 117"/>
          <p:cNvSpPr/>
          <p:nvPr/>
        </p:nvSpPr>
        <p:spPr>
          <a:xfrm>
            <a:off x="10149840" y="2029968"/>
            <a:ext cx="169164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595959"/>
                </a:solidFill>
                <a:latin typeface="+mn-lt"/>
                <a:cs typeface="Calibri"/>
              </a:rPr>
              <a:t>pgvector (HNSW)</a:t>
            </a:r>
            <a:endParaRPr lang="en-US" sz="1200" dirty="0"/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595959"/>
                </a:solidFill>
                <a:latin typeface="+mn-lt"/>
                <a:cs typeface="Calibri"/>
              </a:rPr>
              <a:t>+ full-text index</a:t>
            </a:r>
            <a:endParaRPr lang="en-US" sz="1200" dirty="0"/>
          </a:p>
        </p:txBody>
      </p:sp>
      <p:graphicFrame>
        <p:nvGraphicFramePr>
          <p:cNvPr id="118" name="Table 118"/>
          <p:cNvGraphicFramePr>
            <a:graphicFrameLocks noGrp="1"/>
          </p:cNvGraphicFramePr>
          <p:nvPr/>
        </p:nvGraphicFramePr>
        <p:xfrm>
          <a:off x="320040" y="2788920"/>
          <a:ext cx="11521440" cy="2194560"/>
        </p:xfrm>
        <a:graphic>
          <a:graphicData uri="http://schemas.openxmlformats.org/drawingml/2006/table">
            <a:tbl>
              <a:tblPr firstRow="1" bandRow="1"/>
              <a:tblGrid>
                <a:gridCol w="2377440"/>
                <a:gridCol w="8046720"/>
                <a:gridCol w="109728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lang="en-US" sz="1400" b="1" i="0" dirty="0">
                          <a:solidFill>
                            <a:srgbClr val="FFFFFF"/>
                          </a:solidFill>
                          <a:latin typeface="+mn-lt"/>
                          <a:cs typeface="Calibri"/>
                        </a:rPr>
                        <a:t>Corpus area</a:t>
                      </a:r>
                      <a:endParaRPr lang="en-US" sz="1400" dirty="0"/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C9D6E8"/>
                      </a:solidFill>
                      <a:prstDash val="soli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</a:lnB>
                    <a:solidFill>
                      <a:srgbClr val="1C4D9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i="0" dirty="0">
                          <a:solidFill>
                            <a:srgbClr val="FFFFFF"/>
                          </a:solidFill>
                          <a:latin typeface="+mn-lt"/>
                          <a:cs typeface="Calibri"/>
                        </a:rPr>
                        <a:t>Official Acts ingested</a:t>
                      </a:r>
                      <a:endParaRPr lang="en-US" sz="1400" dirty="0"/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C9D6E8"/>
                      </a:solidFill>
                      <a:prstDash val="soli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</a:lnB>
                    <a:solidFill>
                      <a:srgbClr val="1C4D9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 dirty="0">
                          <a:solidFill>
                            <a:srgbClr val="FFFFFF"/>
                          </a:solidFill>
                          <a:latin typeface="+mn-lt"/>
                          <a:cs typeface="Calibri"/>
                        </a:rPr>
                        <a:t>Count</a:t>
                      </a:r>
                      <a:endParaRPr lang="en-US" sz="1400" dirty="0"/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C9D6E8"/>
                      </a:solidFill>
                      <a:prstDash val="soli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</a:lnB>
                    <a:solidFill>
                      <a:srgbClr val="1C4D9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lang="en-US" sz="1400" b="1" i="0" dirty="0">
                          <a:solidFill>
                            <a:srgbClr val="2E4D6B"/>
                          </a:solidFill>
                          <a:latin typeface="+mn-lt"/>
                          <a:cs typeface="Calibri"/>
                        </a:rPr>
                        <a:t>IT &amp; Technology</a:t>
                      </a:r>
                      <a:endParaRPr lang="en-US" sz="1400" dirty="0"/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C9D6E8"/>
                      </a:solidFill>
                      <a:prstDash val="soli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rgbClr val="242424"/>
                          </a:solidFill>
                          <a:latin typeface="+mn-lt"/>
                          <a:cs typeface="Calibri"/>
                        </a:rPr>
                        <a:t>IT Act 2000, DPDP Act 2023, Telecommunications Act 2023</a:t>
                      </a:r>
                      <a:endParaRPr lang="en-US" sz="1400" dirty="0"/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C9D6E8"/>
                      </a:solidFill>
                      <a:prstDash val="soli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solidFill>
                            <a:srgbClr val="242424"/>
                          </a:solidFill>
                          <a:latin typeface="+mn-lt"/>
                          <a:cs typeface="Calibri"/>
                        </a:rPr>
                        <a:t>3</a:t>
                      </a:r>
                      <a:endParaRPr lang="en-US" sz="1400" dirty="0"/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C9D6E8"/>
                      </a:solidFill>
                      <a:prstDash val="soli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</a:lnB>
                    <a:solidFill>
                      <a:srgbClr val="EAF2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lang="en-US" sz="1400" b="1" i="0" dirty="0">
                          <a:solidFill>
                            <a:srgbClr val="2E4D6B"/>
                          </a:solidFill>
                          <a:latin typeface="+mn-lt"/>
                          <a:cs typeface="Calibri"/>
                        </a:rPr>
                        <a:t>Business &amp; Contracts</a:t>
                      </a:r>
                      <a:endParaRPr lang="en-US" sz="1400" dirty="0"/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C9D6E8"/>
                      </a:solidFill>
                      <a:prstDash val="soli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rgbClr val="242424"/>
                          </a:solidFill>
                          <a:latin typeface="+mn-lt"/>
                          <a:cs typeface="Calibri"/>
                        </a:rPr>
                        <a:t>Contract, Companies, LLP, Consumer Protection, Specific Relief, Partnership</a:t>
                      </a:r>
                      <a:endParaRPr lang="en-US" sz="1400" dirty="0"/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C9D6E8"/>
                      </a:solidFill>
                      <a:prstDash val="soli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solidFill>
                            <a:srgbClr val="242424"/>
                          </a:solidFill>
                          <a:latin typeface="+mn-lt"/>
                          <a:cs typeface="Calibri"/>
                        </a:rPr>
                        <a:t>6</a:t>
                      </a:r>
                      <a:endParaRPr lang="en-US" sz="1400" dirty="0"/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C9D6E8"/>
                      </a:solidFill>
                      <a:prstDash val="soli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lang="en-US" sz="1400" b="1" i="0" dirty="0">
                          <a:solidFill>
                            <a:srgbClr val="2E4D6B"/>
                          </a:solidFill>
                          <a:latin typeface="+mn-lt"/>
                          <a:cs typeface="Calibri"/>
                        </a:rPr>
                        <a:t>Intellectual Property</a:t>
                      </a:r>
                      <a:endParaRPr lang="en-US" sz="1400" dirty="0"/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C9D6E8"/>
                      </a:solidFill>
                      <a:prstDash val="soli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rgbClr val="242424"/>
                          </a:solidFill>
                          <a:latin typeface="+mn-lt"/>
                          <a:cs typeface="Calibri"/>
                        </a:rPr>
                        <a:t>Copyright, Trade Marks, Patents</a:t>
                      </a:r>
                      <a:endParaRPr lang="en-US" sz="1400" dirty="0"/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C9D6E8"/>
                      </a:solidFill>
                      <a:prstDash val="soli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solidFill>
                            <a:srgbClr val="242424"/>
                          </a:solidFill>
                          <a:latin typeface="+mn-lt"/>
                          <a:cs typeface="Calibri"/>
                        </a:rPr>
                        <a:t>3</a:t>
                      </a:r>
                      <a:endParaRPr lang="en-US" sz="1400" dirty="0"/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C9D6E8"/>
                      </a:solidFill>
                      <a:prstDash val="soli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</a:lnB>
                    <a:solidFill>
                      <a:srgbClr val="EAF2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lang="en-US" sz="1400" b="1" i="0" dirty="0">
                          <a:solidFill>
                            <a:srgbClr val="2E4D6B"/>
                          </a:solidFill>
                          <a:latin typeface="+mn-lt"/>
                          <a:cs typeface="Calibri"/>
                        </a:rPr>
                        <a:t>Property Documents</a:t>
                      </a:r>
                      <a:endParaRPr lang="en-US" sz="1400" dirty="0"/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C9D6E8"/>
                      </a:solidFill>
                      <a:prstDash val="soli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rgbClr val="242424"/>
                          </a:solidFill>
                          <a:latin typeface="+mn-lt"/>
                          <a:cs typeface="Calibri"/>
                        </a:rPr>
                        <a:t>Registration Act, Indian Stamp Act</a:t>
                      </a:r>
                      <a:endParaRPr lang="en-US" sz="1400" dirty="0"/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C9D6E8"/>
                      </a:solidFill>
                      <a:prstDash val="soli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solidFill>
                            <a:srgbClr val="242424"/>
                          </a:solidFill>
                          <a:latin typeface="+mn-lt"/>
                          <a:cs typeface="Calibri"/>
                        </a:rPr>
                        <a:t>2</a:t>
                      </a:r>
                      <a:endParaRPr lang="en-US" sz="1400" dirty="0"/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C9D6E8"/>
                      </a:solidFill>
                      <a:prstDash val="soli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lang="en-US" sz="1400" b="1" i="0" dirty="0">
                          <a:solidFill>
                            <a:srgbClr val="2E4D6B"/>
                          </a:solidFill>
                          <a:latin typeface="+mn-lt"/>
                          <a:cs typeface="Calibri"/>
                        </a:rPr>
                        <a:t>Constitutional</a:t>
                      </a:r>
                      <a:endParaRPr lang="en-US" sz="1400" dirty="0"/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C9D6E8"/>
                      </a:solidFill>
                      <a:prstDash val="soli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rgbClr val="242424"/>
                          </a:solidFill>
                          <a:latin typeface="+mn-lt"/>
                          <a:cs typeface="Calibri"/>
                        </a:rPr>
                        <a:t>Constitution of India</a:t>
                      </a:r>
                      <a:endParaRPr lang="en-US" sz="1400" dirty="0"/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C9D6E8"/>
                      </a:solidFill>
                      <a:prstDash val="soli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solidFill>
                            <a:srgbClr val="242424"/>
                          </a:solidFill>
                          <a:latin typeface="+mn-lt"/>
                          <a:cs typeface="Calibri"/>
                        </a:rPr>
                        <a:t>1</a:t>
                      </a:r>
                      <a:endParaRPr lang="en-US" sz="1400" dirty="0"/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C9D6E8"/>
                      </a:solidFill>
                      <a:prstDash val="soli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</a:lnB>
                    <a:solidFill>
                      <a:srgbClr val="EAF2FB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936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7B675-E694-7663-D55C-2461C40B8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E433592-8155-CD6F-B5E3-78AB52F31D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6032" y="1271016"/>
            <a:ext cx="5120640" cy="3931920"/>
          </a:xfrm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2400" b="1" i="0" dirty="0">
                <a:solidFill>
                  <a:srgbClr val="5583D1"/>
                </a:solidFill>
                <a:latin typeface="+mn-lt"/>
                <a:cs typeface="Calibri"/>
              </a:rPr>
              <a:t>Algorithms</a:t>
            </a:r>
          </a:p>
          <a:p>
            <a:pPr marL="342900" indent="-342900">
              <a:lnSpc>
                <a:spcPct val="100000"/>
              </a:lnSpc>
              <a:spcBef>
                <a:spcPts val="1000"/>
              </a:spcBef>
              <a:buClr>
                <a:srgbClr val="5583D1"/>
              </a:buClr>
              <a:buFont typeface="Arial"/>
              <a:buChar char="•"/>
            </a:pPr>
            <a:r>
              <a:rPr lang="en-US" sz="2000" b="0" i="0" dirty="0">
                <a:solidFill>
                  <a:srgbClr val="242424"/>
                </a:solidFill>
                <a:latin typeface="+mn-lt"/>
                <a:cs typeface="Calibri"/>
              </a:rPr>
              <a:t>Sliding-window text chunking</a:t>
            </a:r>
          </a:p>
          <a:p>
            <a:pPr marL="342900" indent="-342900">
              <a:lnSpc>
                <a:spcPct val="100000"/>
              </a:lnSpc>
              <a:spcBef>
                <a:spcPts val="1000"/>
              </a:spcBef>
              <a:buClr>
                <a:srgbClr val="5583D1"/>
              </a:buClr>
              <a:buFont typeface="Arial"/>
              <a:buChar char="•"/>
            </a:pPr>
            <a:r>
              <a:rPr lang="en-US" sz="2000" b="0" i="0" dirty="0">
                <a:solidFill>
                  <a:srgbClr val="242424"/>
                </a:solidFill>
                <a:latin typeface="+mn-lt"/>
                <a:cs typeface="Calibri"/>
              </a:rPr>
              <a:t>Cosine similarity search (HNSW)</a:t>
            </a:r>
          </a:p>
          <a:p>
            <a:pPr marL="342900" indent="-342900">
              <a:lnSpc>
                <a:spcPct val="100000"/>
              </a:lnSpc>
              <a:spcBef>
                <a:spcPts val="1000"/>
              </a:spcBef>
              <a:buClr>
                <a:srgbClr val="5583D1"/>
              </a:buClr>
              <a:buFont typeface="Arial"/>
              <a:buChar char="•"/>
            </a:pPr>
            <a:r>
              <a:rPr lang="en-US" sz="2000" b="0" i="0" dirty="0">
                <a:solidFill>
                  <a:srgbClr val="242424"/>
                </a:solidFill>
                <a:latin typeface="+mn-lt"/>
                <a:cs typeface="Calibri"/>
              </a:rPr>
              <a:t>Full-text ranking (Postgres)</a:t>
            </a:r>
          </a:p>
          <a:p>
            <a:pPr marL="342900" indent="-342900">
              <a:lnSpc>
                <a:spcPct val="100000"/>
              </a:lnSpc>
              <a:spcBef>
                <a:spcPts val="1000"/>
              </a:spcBef>
              <a:buClr>
                <a:srgbClr val="5583D1"/>
              </a:buClr>
              <a:buFont typeface="Arial"/>
              <a:buChar char="•"/>
            </a:pPr>
            <a:r>
              <a:rPr lang="en-US" sz="2000" b="0" i="0" dirty="0">
                <a:solidFill>
                  <a:srgbClr val="242424"/>
                </a:solidFill>
                <a:latin typeface="+mn-lt"/>
                <a:cs typeface="Calibri"/>
              </a:rPr>
              <a:t>Reciprocal Rank Fusion (k = 60)</a:t>
            </a:r>
          </a:p>
          <a:p>
            <a:pPr marL="342900" indent="-342900">
              <a:lnSpc>
                <a:spcPct val="100000"/>
              </a:lnSpc>
              <a:spcBef>
                <a:spcPts val="1000"/>
              </a:spcBef>
              <a:buClr>
                <a:srgbClr val="5583D1"/>
              </a:buClr>
              <a:buFont typeface="Arial"/>
              <a:buChar char="•"/>
            </a:pPr>
            <a:r>
              <a:rPr lang="en-US" sz="2000" b="0" i="0" dirty="0">
                <a:solidFill>
                  <a:srgbClr val="242424"/>
                </a:solidFill>
                <a:latin typeface="+mn-lt"/>
                <a:cs typeface="Calibri"/>
              </a:rPr>
              <a:t>Schema-constrained LLM classification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243BDD-B44E-04F0-FA93-336DD2FFA770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/>
              </a:rPr>
              <a:t>Approach / Algorithms / Tools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963133-FFA1-7CF4-9FAD-E6A120EF4238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EA3EC9D-D5AF-E54C-A3D0-5E42F32DC03B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LA BOT – Indian Legal Advisor Bot</a:t>
            </a:r>
          </a:p>
        </p:txBody>
      </p:sp>
      <p:graphicFrame>
        <p:nvGraphicFramePr>
          <p:cNvPr id="101" name="Table 101"/>
          <p:cNvGraphicFramePr>
            <a:graphicFrameLocks noGrp="1"/>
          </p:cNvGraphicFramePr>
          <p:nvPr/>
        </p:nvGraphicFramePr>
        <p:xfrm>
          <a:off x="5669280" y="1463040"/>
          <a:ext cx="6080760" cy="3200400"/>
        </p:xfrm>
        <a:graphic>
          <a:graphicData uri="http://schemas.openxmlformats.org/drawingml/2006/table">
            <a:tbl>
              <a:tblPr firstRow="1" bandRow="1"/>
              <a:tblGrid>
                <a:gridCol w="1554480"/>
                <a:gridCol w="452628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600" b="1" i="0" dirty="0">
                          <a:solidFill>
                            <a:srgbClr val="FFFFFF"/>
                          </a:solidFill>
                          <a:latin typeface="+mn-lt"/>
                          <a:cs typeface="Calibri"/>
                        </a:rPr>
                        <a:t>Layer</a:t>
                      </a:r>
                      <a:endParaRPr lang="en-US" sz="1600" dirty="0"/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C9D6E8"/>
                      </a:solidFill>
                      <a:prstDash val="soli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</a:lnB>
                    <a:solidFill>
                      <a:srgbClr val="1C4D9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i="0" dirty="0">
                          <a:solidFill>
                            <a:srgbClr val="FFFFFF"/>
                          </a:solidFill>
                          <a:latin typeface="+mn-lt"/>
                          <a:cs typeface="Calibri"/>
                        </a:rPr>
                        <a:t>Tools</a:t>
                      </a:r>
                      <a:endParaRPr lang="en-US" sz="1600" dirty="0"/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C9D6E8"/>
                      </a:solidFill>
                      <a:prstDash val="soli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</a:lnB>
                    <a:solidFill>
                      <a:srgbClr val="1C4D9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500" b="1" i="0" dirty="0">
                          <a:solidFill>
                            <a:srgbClr val="2E4D6B"/>
                          </a:solidFill>
                          <a:latin typeface="+mn-lt"/>
                          <a:cs typeface="Calibri"/>
                        </a:rPr>
                        <a:t>Frontend</a:t>
                      </a:r>
                      <a:endParaRPr lang="en-US" sz="1500" dirty="0"/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C9D6E8"/>
                      </a:solidFill>
                      <a:prstDash val="soli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0" i="0" dirty="0">
                          <a:solidFill>
                            <a:srgbClr val="242424"/>
                          </a:solidFill>
                          <a:latin typeface="+mn-lt"/>
                          <a:cs typeface="Calibri"/>
                        </a:rPr>
                        <a:t>Next.js 15, React 19, Tailwind CSS</a:t>
                      </a:r>
                      <a:endParaRPr lang="en-US" sz="1500" dirty="0"/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C9D6E8"/>
                      </a:solidFill>
                      <a:prstDash val="soli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</a:lnB>
                    <a:solidFill>
                      <a:srgbClr val="EAF2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500" b="1" i="0" dirty="0">
                          <a:solidFill>
                            <a:srgbClr val="2E4D6B"/>
                          </a:solidFill>
                          <a:latin typeface="+mn-lt"/>
                          <a:cs typeface="Calibri"/>
                        </a:rPr>
                        <a:t>Backend</a:t>
                      </a:r>
                      <a:endParaRPr lang="en-US" sz="1500" dirty="0"/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C9D6E8"/>
                      </a:solidFill>
                      <a:prstDash val="soli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0" i="0" dirty="0">
                          <a:solidFill>
                            <a:srgbClr val="242424"/>
                          </a:solidFill>
                          <a:latin typeface="+mn-lt"/>
                          <a:cs typeface="Calibri"/>
                        </a:rPr>
                        <a:t>FastAPI, Pydantic v2, SQLAlchemy 2</a:t>
                      </a:r>
                      <a:endParaRPr lang="en-US" sz="1500" dirty="0"/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C9D6E8"/>
                      </a:solidFill>
                      <a:prstDash val="soli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500" b="1" i="0" dirty="0">
                          <a:solidFill>
                            <a:srgbClr val="2E4D6B"/>
                          </a:solidFill>
                          <a:latin typeface="+mn-lt"/>
                          <a:cs typeface="Calibri"/>
                        </a:rPr>
                        <a:t>Database</a:t>
                      </a:r>
                      <a:endParaRPr lang="en-US" sz="1500" dirty="0"/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C9D6E8"/>
                      </a:solidFill>
                      <a:prstDash val="soli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0" i="0" dirty="0">
                          <a:solidFill>
                            <a:srgbClr val="242424"/>
                          </a:solidFill>
                          <a:latin typeface="+mn-lt"/>
                          <a:cs typeface="Calibri"/>
                        </a:rPr>
                        <a:t>PostgreSQL 16 + pgvector</a:t>
                      </a:r>
                      <a:endParaRPr lang="en-US" sz="1500" dirty="0"/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C9D6E8"/>
                      </a:solidFill>
                      <a:prstDash val="soli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</a:lnB>
                    <a:solidFill>
                      <a:srgbClr val="EAF2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500" b="1" i="0" dirty="0">
                          <a:solidFill>
                            <a:srgbClr val="2E4D6B"/>
                          </a:solidFill>
                          <a:latin typeface="+mn-lt"/>
                          <a:cs typeface="Calibri"/>
                        </a:rPr>
                        <a:t>Cache</a:t>
                      </a:r>
                      <a:endParaRPr lang="en-US" sz="1500" dirty="0"/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C9D6E8"/>
                      </a:solidFill>
                      <a:prstDash val="soli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0" i="0" dirty="0">
                          <a:solidFill>
                            <a:srgbClr val="242424"/>
                          </a:solidFill>
                          <a:latin typeface="+mn-lt"/>
                          <a:cs typeface="Calibri"/>
                        </a:rPr>
                        <a:t>Redis 7 (rate limit, embedding cache)</a:t>
                      </a:r>
                      <a:endParaRPr lang="en-US" sz="1500" dirty="0"/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C9D6E8"/>
                      </a:solidFill>
                      <a:prstDash val="soli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500" b="1" i="0" dirty="0">
                          <a:solidFill>
                            <a:srgbClr val="2E4D6B"/>
                          </a:solidFill>
                          <a:latin typeface="+mn-lt"/>
                          <a:cs typeface="Calibri"/>
                        </a:rPr>
                        <a:t>LLM</a:t>
                      </a:r>
                      <a:endParaRPr lang="en-US" sz="1500" dirty="0"/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C9D6E8"/>
                      </a:solidFill>
                      <a:prstDash val="soli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0" i="0" dirty="0">
                          <a:solidFill>
                            <a:srgbClr val="242424"/>
                          </a:solidFill>
                          <a:latin typeface="+mn-lt"/>
                          <a:cs typeface="Calibri"/>
                        </a:rPr>
                        <a:t>Gemini · Groq · Ollama · Claude</a:t>
                      </a:r>
                      <a:endParaRPr lang="en-US" sz="1500" dirty="0"/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C9D6E8"/>
                      </a:solidFill>
                      <a:prstDash val="soli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</a:lnB>
                    <a:solidFill>
                      <a:srgbClr val="EAF2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500" b="1" i="0" dirty="0">
                          <a:solidFill>
                            <a:srgbClr val="2E4D6B"/>
                          </a:solidFill>
                          <a:latin typeface="+mn-lt"/>
                          <a:cs typeface="Calibri"/>
                        </a:rPr>
                        <a:t>DevOps</a:t>
                      </a:r>
                      <a:endParaRPr lang="en-US" sz="1500" dirty="0"/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C9D6E8"/>
                      </a:solidFill>
                      <a:prstDash val="soli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0" i="0" dirty="0">
                          <a:solidFill>
                            <a:srgbClr val="242424"/>
                          </a:solidFill>
                          <a:latin typeface="+mn-lt"/>
                          <a:cs typeface="Calibri"/>
                        </a:rPr>
                        <a:t>Docker, GitHub Actions, pnpm, uv</a:t>
                      </a:r>
                      <a:endParaRPr lang="en-US" sz="1500" dirty="0"/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C9D6E8"/>
                      </a:solidFill>
                      <a:prstDash val="soli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79446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9A058-E477-163A-1B3E-61A05B0F3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8F67352-6E77-1E87-24B7-ED7906E0679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  <a:latin typeface="Calibri"/>
              </a:rPr>
              <a:t>Project Plan / Milestones Progress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64F4198-C244-16A7-B796-A2E4B5EA6A81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C26B487-77E4-5D5B-7416-E64E3C867A98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LA BOT – Indian Legal Advisor Bot</a:t>
            </a:r>
          </a:p>
        </p:txBody>
      </p:sp>
      <p:graphicFrame>
        <p:nvGraphicFramePr>
          <p:cNvPr id="101" name="Table 101"/>
          <p:cNvGraphicFramePr>
            <a:graphicFrameLocks noGrp="1"/>
          </p:cNvGraphicFramePr>
          <p:nvPr/>
        </p:nvGraphicFramePr>
        <p:xfrm>
          <a:off x="320040" y="1417320"/>
          <a:ext cx="11521440" cy="3621024"/>
        </p:xfrm>
        <a:graphic>
          <a:graphicData uri="http://schemas.openxmlformats.org/drawingml/2006/table">
            <a:tbl>
              <a:tblPr firstRow="1" bandRow="1"/>
              <a:tblGrid>
                <a:gridCol w="1188720"/>
                <a:gridCol w="8229600"/>
                <a:gridCol w="2103120"/>
              </a:tblGrid>
              <a:tr h="402336">
                <a:tc>
                  <a:txBody>
                    <a:bodyPr/>
                    <a:lstStyle/>
                    <a:p>
                      <a:pPr algn="ctr"/>
                      <a:r>
                        <a:rPr lang="en-US" sz="1600" b="1" i="0" dirty="0">
                          <a:solidFill>
                            <a:srgbClr val="FFFFFF"/>
                          </a:solidFill>
                          <a:latin typeface="+mn-lt"/>
                          <a:cs typeface="Calibri"/>
                        </a:rPr>
                        <a:t>Phase</a:t>
                      </a:r>
                      <a:endParaRPr lang="en-US" sz="1600" dirty="0"/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C9D6E8"/>
                      </a:solidFill>
                      <a:prstDash val="soli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</a:lnB>
                    <a:solidFill>
                      <a:srgbClr val="1C4D9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i="0" dirty="0">
                          <a:solidFill>
                            <a:srgbClr val="FFFFFF"/>
                          </a:solidFill>
                          <a:latin typeface="+mn-lt"/>
                          <a:cs typeface="Calibri"/>
                        </a:rPr>
                        <a:t>Milestone</a:t>
                      </a:r>
                      <a:endParaRPr lang="en-US" sz="1600" dirty="0"/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C9D6E8"/>
                      </a:solidFill>
                      <a:prstDash val="soli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</a:lnB>
                    <a:solidFill>
                      <a:srgbClr val="1C4D9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i="0" dirty="0">
                          <a:solidFill>
                            <a:srgbClr val="FFFFFF"/>
                          </a:solidFill>
                          <a:latin typeface="+mn-lt"/>
                          <a:cs typeface="Calibri"/>
                        </a:rPr>
                        <a:t>Status</a:t>
                      </a:r>
                      <a:endParaRPr lang="en-US" sz="1600" dirty="0"/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C9D6E8"/>
                      </a:solidFill>
                      <a:prstDash val="soli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</a:lnB>
                    <a:solidFill>
                      <a:srgbClr val="1C4D9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lang="en-US" sz="1500" b="1" i="0" dirty="0">
                          <a:solidFill>
                            <a:srgbClr val="2E4D6B"/>
                          </a:solidFill>
                          <a:latin typeface="+mn-lt"/>
                          <a:cs typeface="Calibri"/>
                        </a:rPr>
                        <a:t>0 – 1</a:t>
                      </a:r>
                      <a:endParaRPr lang="en-US" sz="1500" dirty="0"/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C9D6E8"/>
                      </a:solidFill>
                      <a:prstDash val="soli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0" i="0" dirty="0">
                          <a:solidFill>
                            <a:srgbClr val="242424"/>
                          </a:solidFill>
                          <a:latin typeface="+mn-lt"/>
                          <a:cs typeface="Calibri"/>
                        </a:rPr>
                        <a:t>Architecture, authentication &amp; role-based access</a:t>
                      </a:r>
                      <a:endParaRPr lang="en-US" sz="1500" dirty="0"/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C9D6E8"/>
                      </a:solidFill>
                      <a:prstDash val="soli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i="0" dirty="0">
                          <a:solidFill>
                            <a:srgbClr val="38761D"/>
                          </a:solidFill>
                          <a:latin typeface="+mn-lt"/>
                          <a:cs typeface="Calibri"/>
                        </a:rPr>
                        <a:t>Completed</a:t>
                      </a:r>
                      <a:endParaRPr lang="en-US" sz="1500" dirty="0"/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C9D6E8"/>
                      </a:solidFill>
                      <a:prstDash val="soli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</a:lnB>
                    <a:solidFill>
                      <a:srgbClr val="E2F0D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lang="en-US" sz="1500" b="1" i="0" dirty="0">
                          <a:solidFill>
                            <a:srgbClr val="2E4D6B"/>
                          </a:solidFill>
                          <a:latin typeface="+mn-lt"/>
                          <a:cs typeface="Calibri"/>
                        </a:rPr>
                        <a:t>2</a:t>
                      </a:r>
                      <a:endParaRPr lang="en-US" sz="1500" dirty="0"/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C9D6E8"/>
                      </a:solidFill>
                      <a:prstDash val="soli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0" i="0" dirty="0">
                          <a:solidFill>
                            <a:srgbClr val="242424"/>
                          </a:solidFill>
                          <a:latin typeface="+mn-lt"/>
                          <a:cs typeface="Calibri"/>
                        </a:rPr>
                        <a:t>Public AI legal chat</a:t>
                      </a:r>
                      <a:endParaRPr lang="en-US" sz="1500" dirty="0"/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C9D6E8"/>
                      </a:solidFill>
                      <a:prstDash val="soli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i="0" dirty="0">
                          <a:solidFill>
                            <a:srgbClr val="38761D"/>
                          </a:solidFill>
                          <a:latin typeface="+mn-lt"/>
                          <a:cs typeface="Calibri"/>
                        </a:rPr>
                        <a:t>Completed</a:t>
                      </a:r>
                      <a:endParaRPr lang="en-US" sz="1500" dirty="0"/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C9D6E8"/>
                      </a:solidFill>
                      <a:prstDash val="soli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</a:lnB>
                    <a:solidFill>
                      <a:srgbClr val="E2F0D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lang="en-US" sz="1500" b="1" i="0" dirty="0">
                          <a:solidFill>
                            <a:srgbClr val="2E4D6B"/>
                          </a:solidFill>
                          <a:latin typeface="+mn-lt"/>
                          <a:cs typeface="Calibri"/>
                        </a:rPr>
                        <a:t>3 – 4</a:t>
                      </a:r>
                      <a:endParaRPr lang="en-US" sz="1500" dirty="0"/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C9D6E8"/>
                      </a:solidFill>
                      <a:prstDash val="soli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0" i="0" dirty="0">
                          <a:solidFill>
                            <a:srgbClr val="242424"/>
                          </a:solidFill>
                          <a:latin typeface="+mn-lt"/>
                          <a:cs typeface="Calibri"/>
                        </a:rPr>
                        <a:t>Knowledge-base ingestion + RAG engine</a:t>
                      </a:r>
                      <a:endParaRPr lang="en-US" sz="1500" dirty="0"/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C9D6E8"/>
                      </a:solidFill>
                      <a:prstDash val="soli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i="0" dirty="0">
                          <a:solidFill>
                            <a:srgbClr val="38761D"/>
                          </a:solidFill>
                          <a:latin typeface="+mn-lt"/>
                          <a:cs typeface="Calibri"/>
                        </a:rPr>
                        <a:t>Completed</a:t>
                      </a:r>
                      <a:endParaRPr lang="en-US" sz="1500" dirty="0"/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C9D6E8"/>
                      </a:solidFill>
                      <a:prstDash val="soli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</a:lnB>
                    <a:solidFill>
                      <a:srgbClr val="E2F0D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lang="en-US" sz="1500" b="1" i="0" dirty="0">
                          <a:solidFill>
                            <a:srgbClr val="2E4D6B"/>
                          </a:solidFill>
                          <a:latin typeface="+mn-lt"/>
                          <a:cs typeface="Calibri"/>
                        </a:rPr>
                        <a:t>5</a:t>
                      </a:r>
                      <a:endParaRPr lang="en-US" sz="1500" dirty="0"/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C9D6E8"/>
                      </a:solidFill>
                      <a:prstDash val="soli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0" i="0" dirty="0">
                          <a:solidFill>
                            <a:srgbClr val="242424"/>
                          </a:solidFill>
                          <a:latin typeface="+mn-lt"/>
                          <a:cs typeface="Calibri"/>
                        </a:rPr>
                        <a:t>Legal classifier &amp; risk engine</a:t>
                      </a:r>
                      <a:endParaRPr lang="en-US" sz="1500" dirty="0"/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C9D6E8"/>
                      </a:solidFill>
                      <a:prstDash val="soli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i="0" dirty="0">
                          <a:solidFill>
                            <a:srgbClr val="38761D"/>
                          </a:solidFill>
                          <a:latin typeface="+mn-lt"/>
                          <a:cs typeface="Calibri"/>
                        </a:rPr>
                        <a:t>Completed</a:t>
                      </a:r>
                      <a:endParaRPr lang="en-US" sz="1500" dirty="0"/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C9D6E8"/>
                      </a:solidFill>
                      <a:prstDash val="soli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</a:lnB>
                    <a:solidFill>
                      <a:srgbClr val="E2F0D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lang="en-US" sz="1500" b="1" i="0" dirty="0">
                          <a:solidFill>
                            <a:srgbClr val="2E4D6B"/>
                          </a:solidFill>
                          <a:latin typeface="+mn-lt"/>
                          <a:cs typeface="Calibri"/>
                        </a:rPr>
                        <a:t>6</a:t>
                      </a:r>
                      <a:endParaRPr lang="en-US" sz="1500" dirty="0"/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C9D6E8"/>
                      </a:solidFill>
                      <a:prstDash val="soli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0" i="0" dirty="0">
                          <a:solidFill>
                            <a:srgbClr val="242424"/>
                          </a:solidFill>
                          <a:latin typeface="+mn-lt"/>
                          <a:cs typeface="Calibri"/>
                        </a:rPr>
                        <a:t>Document assistant (11 types)</a:t>
                      </a:r>
                      <a:endParaRPr lang="en-US" sz="1500" dirty="0"/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C9D6E8"/>
                      </a:solidFill>
                      <a:prstDash val="soli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i="0" dirty="0">
                          <a:solidFill>
                            <a:srgbClr val="38761D"/>
                          </a:solidFill>
                          <a:latin typeface="+mn-lt"/>
                          <a:cs typeface="Calibri"/>
                        </a:rPr>
                        <a:t>Completed</a:t>
                      </a:r>
                      <a:endParaRPr lang="en-US" sz="1500" dirty="0"/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C9D6E8"/>
                      </a:solidFill>
                      <a:prstDash val="soli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</a:lnB>
                    <a:solidFill>
                      <a:srgbClr val="E2F0D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lang="en-US" sz="1500" b="1" i="0" dirty="0">
                          <a:solidFill>
                            <a:srgbClr val="2E4D6B"/>
                          </a:solidFill>
                          <a:latin typeface="+mn-lt"/>
                          <a:cs typeface="Calibri"/>
                        </a:rPr>
                        <a:t>7</a:t>
                      </a:r>
                      <a:endParaRPr lang="en-US" sz="1500" dirty="0"/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C9D6E8"/>
                      </a:solidFill>
                      <a:prstDash val="soli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0" i="0" dirty="0">
                          <a:solidFill>
                            <a:srgbClr val="242424"/>
                          </a:solidFill>
                          <a:latin typeface="+mn-lt"/>
                          <a:cs typeface="Calibri"/>
                        </a:rPr>
                        <a:t>Advocate marketplace (search &amp; profiles)</a:t>
                      </a:r>
                      <a:endParaRPr lang="en-US" sz="1500" dirty="0"/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C9D6E8"/>
                      </a:solidFill>
                      <a:prstDash val="soli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i="0" dirty="0">
                          <a:solidFill>
                            <a:srgbClr val="38761D"/>
                          </a:solidFill>
                          <a:latin typeface="+mn-lt"/>
                          <a:cs typeface="Calibri"/>
                        </a:rPr>
                        <a:t>Completed</a:t>
                      </a:r>
                      <a:endParaRPr lang="en-US" sz="1500" dirty="0"/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C9D6E8"/>
                      </a:solidFill>
                      <a:prstDash val="soli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</a:lnB>
                    <a:solidFill>
                      <a:srgbClr val="E2F0D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lang="en-US" sz="1500" b="1" i="0" dirty="0">
                          <a:solidFill>
                            <a:srgbClr val="2E4D6B"/>
                          </a:solidFill>
                          <a:latin typeface="+mn-lt"/>
                          <a:cs typeface="Calibri"/>
                        </a:rPr>
                        <a:t>8 – 11</a:t>
                      </a:r>
                      <a:endParaRPr lang="en-US" sz="1500" dirty="0"/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C9D6E8"/>
                      </a:solidFill>
                      <a:prstDash val="soli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0" i="0" dirty="0">
                          <a:solidFill>
                            <a:srgbClr val="242424"/>
                          </a:solidFill>
                          <a:latin typeface="+mn-lt"/>
                          <a:cs typeface="Calibri"/>
                        </a:rPr>
                        <a:t>Consultation booking, advocate dashboard, payments, notifications</a:t>
                      </a:r>
                      <a:endParaRPr lang="en-US" sz="1500" dirty="0"/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C9D6E8"/>
                      </a:solidFill>
                      <a:prstDash val="soli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i="0" dirty="0">
                          <a:solidFill>
                            <a:srgbClr val="595959"/>
                          </a:solidFill>
                          <a:latin typeface="+mn-lt"/>
                          <a:cs typeface="Calibri"/>
                        </a:rPr>
                        <a:t>Planned</a:t>
                      </a:r>
                      <a:endParaRPr lang="en-US" sz="1500" dirty="0"/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C9D6E8"/>
                      </a:solidFill>
                      <a:prstDash val="soli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lang="en-US" sz="1500" b="1" i="0" dirty="0">
                          <a:solidFill>
                            <a:srgbClr val="2E4D6B"/>
                          </a:solidFill>
                          <a:latin typeface="+mn-lt"/>
                          <a:cs typeface="Calibri"/>
                        </a:rPr>
                        <a:t>12 – 16</a:t>
                      </a:r>
                      <a:endParaRPr lang="en-US" sz="1500" dirty="0"/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C9D6E8"/>
                      </a:solidFill>
                      <a:prstDash val="soli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0" i="0" dirty="0">
                          <a:solidFill>
                            <a:srgbClr val="242424"/>
                          </a:solidFill>
                          <a:latin typeface="+mn-lt"/>
                          <a:cs typeface="Calibri"/>
                        </a:rPr>
                        <a:t>Admin UI, security, testing, deployment, launch</a:t>
                      </a:r>
                      <a:endParaRPr lang="en-US" sz="1500" dirty="0"/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C9D6E8"/>
                      </a:solidFill>
                      <a:prstDash val="soli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i="0" dirty="0">
                          <a:solidFill>
                            <a:srgbClr val="595959"/>
                          </a:solidFill>
                          <a:latin typeface="+mn-lt"/>
                          <a:cs typeface="Calibri"/>
                        </a:rPr>
                        <a:t>Planned</a:t>
                      </a:r>
                      <a:endParaRPr lang="en-US" sz="1500" dirty="0"/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C9D6E8"/>
                      </a:solidFill>
                      <a:prstDash val="soli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011091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5BBC5-46B5-0DF4-A2AC-5289D2957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BEA9949-295E-B2C7-8E3A-639B0AD48F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  <a:latin typeface="Calibri"/>
              </a:rPr>
              <a:t>Pipeline Structure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3477A6-BED1-8211-5527-9030F1E86940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B5AC1E1-8B68-1019-1B7A-0CF7BDC8B3EC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LA BOT – Indian Legal Advisor Bot</a:t>
            </a:r>
          </a:p>
        </p:txBody>
      </p:sp>
      <p:sp>
        <p:nvSpPr>
          <p:cNvPr id="101" name="Shape 101"/>
          <p:cNvSpPr/>
          <p:nvPr/>
        </p:nvSpPr>
        <p:spPr>
          <a:xfrm>
            <a:off x="320040" y="1600200"/>
            <a:ext cx="1691640" cy="1143000"/>
          </a:xfrm>
          <a:prstGeom prst="roundRect">
            <a:avLst>
              <a:gd name="adj" fmla="val 12000"/>
            </a:avLst>
          </a:prstGeom>
          <a:solidFill>
            <a:srgbClr val="1C4D98"/>
          </a:solidFill>
          <a:ln>
            <a:noFill/>
          </a:ln>
        </p:spPr>
        <p:txBody>
          <a:bodyPr wrap="square" lIns="54864" tIns="54864" rIns="54864" bIns="54864" anchor="ctr" rtlCol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FFFFFF"/>
                </a:solidFill>
                <a:latin typeface="+mn-lt"/>
                <a:cs typeface="Calibri"/>
              </a:rPr>
              <a:t>User Question</a:t>
            </a:r>
            <a:endParaRPr lang="en-US" sz="1500" dirty="0"/>
          </a:p>
          <a:p>
            <a:pPr marL="0" indent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FFFFFF"/>
                </a:solidFill>
                <a:latin typeface="+mn-lt"/>
                <a:cs typeface="Calibri"/>
              </a:rPr>
              <a:t>web chat</a:t>
            </a:r>
            <a:endParaRPr lang="en-US" sz="1200" dirty="0"/>
          </a:p>
        </p:txBody>
      </p:sp>
      <p:sp>
        <p:nvSpPr>
          <p:cNvPr id="102" name="Shape 102"/>
          <p:cNvSpPr/>
          <p:nvPr/>
        </p:nvSpPr>
        <p:spPr>
          <a:xfrm>
            <a:off x="2286000" y="1600200"/>
            <a:ext cx="1691640" cy="1143000"/>
          </a:xfrm>
          <a:prstGeom prst="roundRect">
            <a:avLst>
              <a:gd name="adj" fmla="val 12000"/>
            </a:avLst>
          </a:prstGeom>
          <a:solidFill>
            <a:srgbClr val="245FA4"/>
          </a:solidFill>
          <a:ln>
            <a:noFill/>
          </a:ln>
        </p:spPr>
        <p:txBody>
          <a:bodyPr wrap="square" lIns="54864" tIns="54864" rIns="54864" bIns="54864" anchor="ctr" rtlCol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FFFFFF"/>
                </a:solidFill>
                <a:latin typeface="+mn-lt"/>
                <a:cs typeface="Calibri"/>
              </a:rPr>
              <a:t>Classify</a:t>
            </a:r>
            <a:endParaRPr lang="en-US" sz="1500" dirty="0"/>
          </a:p>
          <a:p>
            <a:pPr marL="0" indent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FFFFFF"/>
                </a:solidFill>
                <a:latin typeface="+mn-lt"/>
                <a:cs typeface="Calibri"/>
              </a:rPr>
              <a:t>category · jurisdiction · risk</a:t>
            </a:r>
            <a:endParaRPr lang="en-US" sz="1200" dirty="0"/>
          </a:p>
        </p:txBody>
      </p:sp>
      <p:cxnSp>
        <p:nvCxnSpPr>
          <p:cNvPr id="103" name="Arrow 103"/>
          <p:cNvCxnSpPr/>
          <p:nvPr/>
        </p:nvCxnSpPr>
        <p:spPr>
          <a:xfrm>
            <a:off x="2048256" y="2171700"/>
            <a:ext cx="201168" cy="0"/>
          </a:xfrm>
          <a:prstGeom prst="straightConnector1">
            <a:avLst/>
          </a:prstGeom>
          <a:ln w="22225">
            <a:solidFill>
              <a:srgbClr val="8497B0"/>
            </a:solidFill>
            <a:tailEnd type="triangle" w="med" len="med"/>
          </a:ln>
        </p:spPr>
      </p:cxnSp>
      <p:sp>
        <p:nvSpPr>
          <p:cNvPr id="104" name="Shape 104"/>
          <p:cNvSpPr/>
          <p:nvPr/>
        </p:nvSpPr>
        <p:spPr>
          <a:xfrm>
            <a:off x="4251960" y="1600200"/>
            <a:ext cx="1691640" cy="1143000"/>
          </a:xfrm>
          <a:prstGeom prst="roundRect">
            <a:avLst>
              <a:gd name="adj" fmla="val 12000"/>
            </a:avLst>
          </a:prstGeom>
          <a:solidFill>
            <a:srgbClr val="2A6DB0"/>
          </a:solidFill>
          <a:ln>
            <a:noFill/>
          </a:ln>
        </p:spPr>
        <p:txBody>
          <a:bodyPr wrap="square" lIns="54864" tIns="54864" rIns="54864" bIns="54864" anchor="ctr" rtlCol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FFFFFF"/>
                </a:solidFill>
                <a:latin typeface="+mn-lt"/>
                <a:cs typeface="Calibri"/>
              </a:rPr>
              <a:t>Hybrid Search</a:t>
            </a:r>
            <a:endParaRPr lang="en-US" sz="1500" dirty="0"/>
          </a:p>
          <a:p>
            <a:pPr marL="0" indent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FFFFFF"/>
                </a:solidFill>
                <a:latin typeface="+mn-lt"/>
                <a:cs typeface="Calibri"/>
              </a:rPr>
              <a:t>pgvector + full-text → RRF</a:t>
            </a:r>
            <a:endParaRPr lang="en-US" sz="1200" dirty="0"/>
          </a:p>
        </p:txBody>
      </p:sp>
      <p:cxnSp>
        <p:nvCxnSpPr>
          <p:cNvPr id="105" name="Arrow 105"/>
          <p:cNvCxnSpPr/>
          <p:nvPr/>
        </p:nvCxnSpPr>
        <p:spPr>
          <a:xfrm>
            <a:off x="4014216" y="2171700"/>
            <a:ext cx="201168" cy="0"/>
          </a:xfrm>
          <a:prstGeom prst="straightConnector1">
            <a:avLst/>
          </a:prstGeom>
          <a:ln w="22225">
            <a:solidFill>
              <a:srgbClr val="8497B0"/>
            </a:solidFill>
            <a:tailEnd type="triangle" w="med" len="med"/>
          </a:ln>
        </p:spPr>
      </p:cxnSp>
      <p:sp>
        <p:nvSpPr>
          <p:cNvPr id="106" name="Shape 106"/>
          <p:cNvSpPr/>
          <p:nvPr/>
        </p:nvSpPr>
        <p:spPr>
          <a:xfrm>
            <a:off x="6217920" y="1600200"/>
            <a:ext cx="1691640" cy="1143000"/>
          </a:xfrm>
          <a:prstGeom prst="roundRect">
            <a:avLst>
              <a:gd name="adj" fmla="val 12000"/>
            </a:avLst>
          </a:prstGeom>
          <a:solidFill>
            <a:srgbClr val="2F80AB"/>
          </a:solidFill>
          <a:ln>
            <a:noFill/>
          </a:ln>
        </p:spPr>
        <p:txBody>
          <a:bodyPr wrap="square" lIns="54864" tIns="54864" rIns="54864" bIns="54864" anchor="ctr" rtlCol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FFFFFF"/>
                </a:solidFill>
                <a:latin typeface="+mn-lt"/>
                <a:cs typeface="Calibri"/>
              </a:rPr>
              <a:t>Grounded Answer</a:t>
            </a:r>
            <a:endParaRPr lang="en-US" sz="1500" dirty="0"/>
          </a:p>
          <a:p>
            <a:pPr marL="0" indent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FFFFFF"/>
                </a:solidFill>
                <a:latin typeface="+mn-lt"/>
                <a:cs typeface="Calibri"/>
              </a:rPr>
              <a:t>LLM, streamed with citations</a:t>
            </a:r>
            <a:endParaRPr lang="en-US" sz="1200" dirty="0"/>
          </a:p>
        </p:txBody>
      </p:sp>
      <p:cxnSp>
        <p:nvCxnSpPr>
          <p:cNvPr id="107" name="Arrow 107"/>
          <p:cNvCxnSpPr/>
          <p:nvPr/>
        </p:nvCxnSpPr>
        <p:spPr>
          <a:xfrm>
            <a:off x="5980176" y="2171700"/>
            <a:ext cx="201168" cy="0"/>
          </a:xfrm>
          <a:prstGeom prst="straightConnector1">
            <a:avLst/>
          </a:prstGeom>
          <a:ln w="22225">
            <a:solidFill>
              <a:srgbClr val="8497B0"/>
            </a:solidFill>
            <a:tailEnd type="triangle" w="med" len="med"/>
          </a:ln>
        </p:spPr>
      </p:cxnSp>
      <p:sp>
        <p:nvSpPr>
          <p:cNvPr id="108" name="Shape 108"/>
          <p:cNvSpPr/>
          <p:nvPr/>
        </p:nvSpPr>
        <p:spPr>
          <a:xfrm>
            <a:off x="8183880" y="1600200"/>
            <a:ext cx="1691640" cy="1143000"/>
          </a:xfrm>
          <a:prstGeom prst="roundRect">
            <a:avLst>
              <a:gd name="adj" fmla="val 12000"/>
            </a:avLst>
          </a:prstGeom>
          <a:solidFill>
            <a:srgbClr val="3793A6"/>
          </a:solidFill>
          <a:ln>
            <a:noFill/>
          </a:ln>
        </p:spPr>
        <p:txBody>
          <a:bodyPr wrap="square" lIns="54864" tIns="54864" rIns="54864" bIns="54864" anchor="ctr" rtlCol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FFFFFF"/>
                </a:solidFill>
                <a:latin typeface="+mn-lt"/>
                <a:cs typeface="Calibri"/>
              </a:rPr>
              <a:t>Risk Guardrail</a:t>
            </a:r>
            <a:endParaRPr lang="en-US" sz="1500" dirty="0"/>
          </a:p>
          <a:p>
            <a:pPr marL="0" indent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FFFFFF"/>
                </a:solidFill>
                <a:latin typeface="+mn-lt"/>
                <a:cs typeface="Calibri"/>
              </a:rPr>
              <a:t>LOW → CRITICAL check</a:t>
            </a:r>
            <a:endParaRPr lang="en-US" sz="1200" dirty="0"/>
          </a:p>
        </p:txBody>
      </p:sp>
      <p:cxnSp>
        <p:nvCxnSpPr>
          <p:cNvPr id="109" name="Arrow 109"/>
          <p:cNvCxnSpPr/>
          <p:nvPr/>
        </p:nvCxnSpPr>
        <p:spPr>
          <a:xfrm>
            <a:off x="7946136" y="2171700"/>
            <a:ext cx="201168" cy="0"/>
          </a:xfrm>
          <a:prstGeom prst="straightConnector1">
            <a:avLst/>
          </a:prstGeom>
          <a:ln w="22225">
            <a:solidFill>
              <a:srgbClr val="8497B0"/>
            </a:solidFill>
            <a:tailEnd type="triangle" w="med" len="med"/>
          </a:ln>
        </p:spPr>
      </p:cxnSp>
      <p:sp>
        <p:nvSpPr>
          <p:cNvPr id="110" name="Shape 110"/>
          <p:cNvSpPr/>
          <p:nvPr/>
        </p:nvSpPr>
        <p:spPr>
          <a:xfrm>
            <a:off x="10149840" y="1600200"/>
            <a:ext cx="1691640" cy="1143000"/>
          </a:xfrm>
          <a:prstGeom prst="roundRect">
            <a:avLst>
              <a:gd name="adj" fmla="val 12000"/>
            </a:avLst>
          </a:prstGeom>
          <a:solidFill>
            <a:srgbClr val="47BDAF"/>
          </a:solidFill>
          <a:ln>
            <a:noFill/>
          </a:ln>
        </p:spPr>
        <p:txBody>
          <a:bodyPr wrap="square" lIns="54864" tIns="54864" rIns="54864" bIns="54864" anchor="ctr" rtlCol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FFFFFF"/>
                </a:solidFill>
                <a:latin typeface="+mn-lt"/>
                <a:cs typeface="Calibri"/>
              </a:rPr>
              <a:t>Answer + Sources</a:t>
            </a:r>
            <a:endParaRPr lang="en-US" sz="1500" dirty="0"/>
          </a:p>
          <a:p>
            <a:pPr marL="0" indent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FFFFFF"/>
                </a:solidFill>
                <a:latin typeface="+mn-lt"/>
                <a:cs typeface="Calibri"/>
              </a:rPr>
              <a:t>shown to the user</a:t>
            </a:r>
            <a:endParaRPr lang="en-US" sz="1200" dirty="0"/>
          </a:p>
        </p:txBody>
      </p:sp>
      <p:cxnSp>
        <p:nvCxnSpPr>
          <p:cNvPr id="111" name="Arrow 111"/>
          <p:cNvCxnSpPr/>
          <p:nvPr/>
        </p:nvCxnSpPr>
        <p:spPr>
          <a:xfrm>
            <a:off x="9912096" y="2171700"/>
            <a:ext cx="201168" cy="0"/>
          </a:xfrm>
          <a:prstGeom prst="straightConnector1">
            <a:avLst/>
          </a:prstGeom>
          <a:ln w="22225">
            <a:solidFill>
              <a:srgbClr val="8497B0"/>
            </a:solidFill>
            <a:tailEnd type="triangle" w="med" len="med"/>
          </a:ln>
        </p:spPr>
      </p:cxnSp>
      <p:cxnSp>
        <p:nvCxnSpPr>
          <p:cNvPr id="112" name="Arrow 112"/>
          <p:cNvCxnSpPr/>
          <p:nvPr/>
        </p:nvCxnSpPr>
        <p:spPr>
          <a:xfrm>
            <a:off x="3131820" y="2788920"/>
            <a:ext cx="0" cy="594360"/>
          </a:xfrm>
          <a:prstGeom prst="straightConnector1">
            <a:avLst/>
          </a:prstGeom>
          <a:ln w="22225">
            <a:solidFill>
              <a:srgbClr val="A5A5A5"/>
            </a:solidFill>
            <a:prstDash val="dash"/>
            <a:tailEnd type="triangle" w="med" len="med"/>
          </a:ln>
        </p:spPr>
      </p:cxnSp>
      <p:sp>
        <p:nvSpPr>
          <p:cNvPr id="113" name="Shape 113"/>
          <p:cNvSpPr/>
          <p:nvPr/>
        </p:nvSpPr>
        <p:spPr>
          <a:xfrm>
            <a:off x="2286000" y="3429000"/>
            <a:ext cx="1691640" cy="960120"/>
          </a:xfrm>
          <a:prstGeom prst="roundRect">
            <a:avLst>
              <a:gd name="adj" fmla="val 12000"/>
            </a:avLst>
          </a:prstGeom>
          <a:solidFill>
            <a:srgbClr val="EAF2FB"/>
          </a:solidFill>
          <a:ln w="12700">
            <a:solidFill>
              <a:srgbClr val="C9D6E8"/>
            </a:solidFill>
          </a:ln>
        </p:spPr>
        <p:txBody>
          <a:bodyPr wrap="square" lIns="54864" tIns="54864" rIns="54864" bIns="54864" anchor="ctr" rtlCol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2E4D6B"/>
                </a:solidFill>
                <a:latin typeface="+mn-lt"/>
                <a:cs typeface="Calibri"/>
              </a:rPr>
              <a:t>Out of scope</a:t>
            </a:r>
            <a:endParaRPr lang="en-US" sz="1400" dirty="0"/>
          </a:p>
          <a:p>
            <a:pPr marL="0" indent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242424"/>
                </a:solidFill>
                <a:latin typeface="+mn-lt"/>
                <a:cs typeface="Calibri"/>
              </a:rPr>
              <a:t>fixed polite reply</a:t>
            </a:r>
            <a:endParaRPr lang="en-US" sz="1200" dirty="0"/>
          </a:p>
        </p:txBody>
      </p:sp>
      <p:cxnSp>
        <p:nvCxnSpPr>
          <p:cNvPr id="114" name="Arrow 114"/>
          <p:cNvCxnSpPr/>
          <p:nvPr/>
        </p:nvCxnSpPr>
        <p:spPr>
          <a:xfrm>
            <a:off x="5097780" y="2788920"/>
            <a:ext cx="0" cy="594360"/>
          </a:xfrm>
          <a:prstGeom prst="straightConnector1">
            <a:avLst/>
          </a:prstGeom>
          <a:ln w="22225">
            <a:solidFill>
              <a:srgbClr val="A5A5A5"/>
            </a:solidFill>
            <a:prstDash val="dash"/>
            <a:tailEnd type="triangle" w="med" len="med"/>
          </a:ln>
        </p:spPr>
      </p:cxnSp>
      <p:sp>
        <p:nvSpPr>
          <p:cNvPr id="115" name="Shape 115"/>
          <p:cNvSpPr/>
          <p:nvPr/>
        </p:nvSpPr>
        <p:spPr>
          <a:xfrm>
            <a:off x="4251960" y="3429000"/>
            <a:ext cx="1691640" cy="960120"/>
          </a:xfrm>
          <a:prstGeom prst="roundRect">
            <a:avLst>
              <a:gd name="adj" fmla="val 12000"/>
            </a:avLst>
          </a:prstGeom>
          <a:solidFill>
            <a:srgbClr val="EAF2FB"/>
          </a:solidFill>
          <a:ln w="12700">
            <a:solidFill>
              <a:srgbClr val="C9D6E8"/>
            </a:solidFill>
          </a:ln>
        </p:spPr>
        <p:txBody>
          <a:bodyPr wrap="square" lIns="54864" tIns="54864" rIns="54864" bIns="54864" anchor="ctr" rtlCol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2E4D6B"/>
                </a:solidFill>
                <a:latin typeface="+mn-lt"/>
                <a:cs typeface="Calibri"/>
              </a:rPr>
              <a:t>No source found</a:t>
            </a:r>
            <a:endParaRPr lang="en-US" sz="1400" dirty="0"/>
          </a:p>
          <a:p>
            <a:pPr marL="0" indent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242424"/>
                </a:solidFill>
                <a:latin typeface="+mn-lt"/>
                <a:cs typeface="Calibri"/>
              </a:rPr>
              <a:t>“insufficient verified information”</a:t>
            </a:r>
            <a:endParaRPr lang="en-US" sz="1200" dirty="0"/>
          </a:p>
        </p:txBody>
      </p:sp>
      <p:cxnSp>
        <p:nvCxnSpPr>
          <p:cNvPr id="116" name="Arrow 116"/>
          <p:cNvCxnSpPr/>
          <p:nvPr/>
        </p:nvCxnSpPr>
        <p:spPr>
          <a:xfrm>
            <a:off x="9029700" y="2788920"/>
            <a:ext cx="0" cy="594360"/>
          </a:xfrm>
          <a:prstGeom prst="straightConnector1">
            <a:avLst/>
          </a:prstGeom>
          <a:ln w="22225">
            <a:solidFill>
              <a:srgbClr val="A5A5A5"/>
            </a:solidFill>
            <a:prstDash val="dash"/>
            <a:tailEnd type="triangle" w="med" len="med"/>
          </a:ln>
        </p:spPr>
      </p:cxnSp>
      <p:sp>
        <p:nvSpPr>
          <p:cNvPr id="117" name="Shape 117"/>
          <p:cNvSpPr/>
          <p:nvPr/>
        </p:nvSpPr>
        <p:spPr>
          <a:xfrm>
            <a:off x="8183880" y="3429000"/>
            <a:ext cx="1691640" cy="960120"/>
          </a:xfrm>
          <a:prstGeom prst="roundRect">
            <a:avLst>
              <a:gd name="adj" fmla="val 12000"/>
            </a:avLst>
          </a:prstGeom>
          <a:solidFill>
            <a:srgbClr val="EAF2FB"/>
          </a:solidFill>
          <a:ln w="12700">
            <a:solidFill>
              <a:srgbClr val="C9D6E8"/>
            </a:solidFill>
          </a:ln>
        </p:spPr>
        <p:txBody>
          <a:bodyPr wrap="square" lIns="54864" tIns="54864" rIns="54864" bIns="54864" anchor="ctr" rtlCol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2E4D6B"/>
                </a:solidFill>
                <a:latin typeface="+mn-lt"/>
                <a:cs typeface="Calibri"/>
              </a:rPr>
              <a:t>HIGH / CRITICAL</a:t>
            </a:r>
            <a:endParaRPr lang="en-US" sz="1400" dirty="0"/>
          </a:p>
          <a:p>
            <a:pPr marL="0" indent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242424"/>
                </a:solidFill>
                <a:latin typeface="+mn-lt"/>
                <a:cs typeface="Calibri"/>
              </a:rPr>
              <a:t>recommend an advocate → directory</a:t>
            </a:r>
            <a:endParaRPr lang="en-US" sz="1200" dirty="0"/>
          </a:p>
        </p:txBody>
      </p:sp>
      <p:sp>
        <p:nvSpPr>
          <p:cNvPr id="118" name="Shape 118"/>
          <p:cNvSpPr/>
          <p:nvPr/>
        </p:nvSpPr>
        <p:spPr>
          <a:xfrm>
            <a:off x="2286000" y="4663440"/>
            <a:ext cx="75895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1" dirty="0">
                <a:solidFill>
                  <a:srgbClr val="7F7F7F"/>
                </a:solidFill>
                <a:latin typeface="+mn-lt"/>
                <a:cs typeface="Calibri"/>
              </a:rPr>
              <a:t>Solid arrows = main flow      Dashed arrows = guardrail exits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1983719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Projects Overview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LA BOT  |  WorkWell AI</a:t>
            </a:r>
          </a:p>
        </p:txBody>
      </p:sp>
      <p:graphicFrame>
        <p:nvGraphicFramePr>
          <p:cNvPr id="101" name="Table 101"/>
          <p:cNvGraphicFramePr>
            <a:graphicFrameLocks noGrp="1"/>
          </p:cNvGraphicFramePr>
          <p:nvPr/>
        </p:nvGraphicFramePr>
        <p:xfrm>
          <a:off x="320040" y="1463040"/>
          <a:ext cx="11521440" cy="3520440"/>
        </p:xfrm>
        <a:graphic>
          <a:graphicData uri="http://schemas.openxmlformats.org/drawingml/2006/table">
            <a:tbl>
              <a:tblPr firstRow="1" bandRow="1"/>
              <a:tblGrid>
                <a:gridCol w="2011680"/>
                <a:gridCol w="4754880"/>
                <a:gridCol w="4754880"/>
              </a:tblGrid>
              <a:tr h="502920">
                <a:tc>
                  <a:txBody>
                    <a:bodyPr/>
                    <a:lstStyle/>
                    <a:p>
                      <a:pPr algn="l"/>
                      <a:endParaRPr lang="en-US" sz="1700" dirty="0"/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C9D6E8"/>
                      </a:solidFill>
                      <a:prstDash val="soli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</a:lnB>
                    <a:solidFill>
                      <a:srgbClr val="1C4D9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700" b="1" i="0" dirty="0">
                          <a:solidFill>
                            <a:srgbClr val="FFFFFF"/>
                          </a:solidFill>
                          <a:latin typeface="+mn-lt"/>
                          <a:cs typeface="Calibri"/>
                        </a:rPr>
                        <a:t>Project 1 – LA BOT</a:t>
                      </a:r>
                      <a:endParaRPr lang="en-US" sz="1700" dirty="0"/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C9D6E8"/>
                      </a:solidFill>
                      <a:prstDash val="soli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</a:lnB>
                    <a:solidFill>
                      <a:srgbClr val="1C4D9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700" b="1" i="0" dirty="0">
                          <a:solidFill>
                            <a:srgbClr val="FFFFFF"/>
                          </a:solidFill>
                          <a:latin typeface="+mn-lt"/>
                          <a:cs typeface="Calibri"/>
                        </a:rPr>
                        <a:t>Project 2 – WorkWell AI</a:t>
                      </a:r>
                      <a:endParaRPr lang="en-US" sz="1700" dirty="0"/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C9D6E8"/>
                      </a:solidFill>
                      <a:prstDash val="soli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</a:lnB>
                    <a:solidFill>
                      <a:srgbClr val="1C4D9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lang="en-US" sz="1600" b="1" i="0" dirty="0">
                          <a:solidFill>
                            <a:srgbClr val="2E4D6B"/>
                          </a:solidFill>
                          <a:latin typeface="+mn-lt"/>
                          <a:cs typeface="Calibri"/>
                        </a:rPr>
                        <a:t>Domain</a:t>
                      </a:r>
                      <a:endParaRPr lang="en-US" sz="1600" dirty="0"/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C9D6E8"/>
                      </a:solidFill>
                      <a:prstDash val="soli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rgbClr val="242424"/>
                          </a:solidFill>
                          <a:latin typeface="+mn-lt"/>
                          <a:cs typeface="Calibri"/>
                        </a:rPr>
                        <a:t>Legal-tech (Indian law)</a:t>
                      </a:r>
                      <a:endParaRPr lang="en-US" sz="1600" dirty="0"/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C9D6E8"/>
                      </a:solidFill>
                      <a:prstDash val="soli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rgbClr val="242424"/>
                          </a:solidFill>
                          <a:latin typeface="+mn-lt"/>
                          <a:cs typeface="Calibri"/>
                        </a:rPr>
                        <a:t>HR-tech (employee wellbeing)</a:t>
                      </a:r>
                      <a:endParaRPr lang="en-US" sz="1600" dirty="0"/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C9D6E8"/>
                      </a:solidFill>
                      <a:prstDash val="soli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</a:lnB>
                    <a:solidFill>
                      <a:srgbClr val="EAF2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lang="en-US" sz="1600" b="1" i="0" dirty="0">
                          <a:solidFill>
                            <a:srgbClr val="2E4D6B"/>
                          </a:solidFill>
                          <a:latin typeface="+mn-lt"/>
                          <a:cs typeface="Calibri"/>
                        </a:rPr>
                        <a:t>Problem</a:t>
                      </a:r>
                      <a:endParaRPr lang="en-US" sz="1600" dirty="0"/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C9D6E8"/>
                      </a:solidFill>
                      <a:prstDash val="soli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rgbClr val="242424"/>
                          </a:solidFill>
                          <a:latin typeface="+mn-lt"/>
                          <a:cs typeface="Calibri"/>
                        </a:rPr>
                        <a:t>Legal information is scattered and hard to understand</a:t>
                      </a:r>
                      <a:endParaRPr lang="en-US" sz="1600" dirty="0"/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C9D6E8"/>
                      </a:solidFill>
                      <a:prstDash val="soli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rgbClr val="242424"/>
                          </a:solidFill>
                          <a:latin typeface="+mn-lt"/>
                          <a:cs typeface="Calibri"/>
                        </a:rPr>
                        <a:t>Burnout signs are noticed too late</a:t>
                      </a:r>
                      <a:endParaRPr lang="en-US" sz="1600" dirty="0"/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C9D6E8"/>
                      </a:solidFill>
                      <a:prstDash val="soli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lang="en-US" sz="1600" b="1" i="0" dirty="0">
                          <a:solidFill>
                            <a:srgbClr val="2E4D6B"/>
                          </a:solidFill>
                          <a:latin typeface="+mn-lt"/>
                          <a:cs typeface="Calibri"/>
                        </a:rPr>
                        <a:t>Users</a:t>
                      </a:r>
                      <a:endParaRPr lang="en-US" sz="1600" dirty="0"/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C9D6E8"/>
                      </a:solidFill>
                      <a:prstDash val="soli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rgbClr val="242424"/>
                          </a:solidFill>
                          <a:latin typeface="+mn-lt"/>
                          <a:cs typeface="Calibri"/>
                        </a:rPr>
                        <a:t>Consumers, startups, IT professionals, advocates</a:t>
                      </a:r>
                      <a:endParaRPr lang="en-US" sz="1600" dirty="0"/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C9D6E8"/>
                      </a:solidFill>
                      <a:prstDash val="soli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rgbClr val="242424"/>
                          </a:solidFill>
                          <a:latin typeface="+mn-lt"/>
                          <a:cs typeface="Calibri"/>
                        </a:rPr>
                        <a:t>Employees, managers, HR admins</a:t>
                      </a:r>
                      <a:endParaRPr lang="en-US" sz="1600" dirty="0"/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C9D6E8"/>
                      </a:solidFill>
                      <a:prstDash val="soli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</a:lnB>
                    <a:solidFill>
                      <a:srgbClr val="EAF2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lang="en-US" sz="1600" b="1" i="0" dirty="0">
                          <a:solidFill>
                            <a:srgbClr val="2E4D6B"/>
                          </a:solidFill>
                          <a:latin typeface="+mn-lt"/>
                          <a:cs typeface="Calibri"/>
                        </a:rPr>
                        <a:t>Core AI</a:t>
                      </a:r>
                      <a:endParaRPr lang="en-US" sz="1600" dirty="0"/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C9D6E8"/>
                      </a:solidFill>
                      <a:prstDash val="soli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rgbClr val="242424"/>
                          </a:solidFill>
                          <a:latin typeface="+mn-lt"/>
                          <a:cs typeface="Calibri"/>
                        </a:rPr>
                        <a:t>Hybrid RAG + LLM with source citations</a:t>
                      </a:r>
                      <a:endParaRPr lang="en-US" sz="1600" dirty="0"/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C9D6E8"/>
                      </a:solidFill>
                      <a:prstDash val="soli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rgbClr val="242424"/>
                          </a:solidFill>
                          <a:latin typeface="+mn-lt"/>
                          <a:cs typeface="Calibri"/>
                        </a:rPr>
                        <a:t>Personal baselines + agentic AI + RAG</a:t>
                      </a:r>
                      <a:endParaRPr lang="en-US" sz="1600" dirty="0"/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C9D6E8"/>
                      </a:solidFill>
                      <a:prstDash val="soli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lang="en-US" sz="1600" b="1" i="0" dirty="0">
                          <a:solidFill>
                            <a:srgbClr val="2E4D6B"/>
                          </a:solidFill>
                          <a:latin typeface="+mn-lt"/>
                          <a:cs typeface="Calibri"/>
                        </a:rPr>
                        <a:t>Output</a:t>
                      </a:r>
                      <a:endParaRPr lang="en-US" sz="1600" dirty="0"/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C9D6E8"/>
                      </a:solidFill>
                      <a:prstDash val="soli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rgbClr val="242424"/>
                          </a:solidFill>
                          <a:latin typeface="+mn-lt"/>
                          <a:cs typeface="Calibri"/>
                        </a:rPr>
                        <a:t>Cited answers, document drafts, advocate match</a:t>
                      </a:r>
                      <a:endParaRPr lang="en-US" sz="1600" dirty="0"/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C9D6E8"/>
                      </a:solidFill>
                      <a:prstDash val="soli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rgbClr val="242424"/>
                          </a:solidFill>
                          <a:latin typeface="+mn-lt"/>
                          <a:cs typeface="Calibri"/>
                        </a:rPr>
                        <a:t>Private, gentle wellbeing suggestions</a:t>
                      </a:r>
                      <a:endParaRPr lang="en-US" sz="1600" dirty="0"/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C9D6E8"/>
                      </a:solidFill>
                      <a:prstDash val="soli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</a:lnB>
                    <a:solidFill>
                      <a:srgbClr val="EAF2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lang="en-US" sz="1600" b="1" i="0" dirty="0">
                          <a:solidFill>
                            <a:srgbClr val="2E4D6B"/>
                          </a:solidFill>
                          <a:latin typeface="+mn-lt"/>
                          <a:cs typeface="Calibri"/>
                        </a:rPr>
                        <a:t>Status</a:t>
                      </a:r>
                      <a:endParaRPr lang="en-US" sz="1600" dirty="0"/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C9D6E8"/>
                      </a:solidFill>
                      <a:prstDash val="soli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rgbClr val="242424"/>
                          </a:solidFill>
                          <a:latin typeface="+mn-lt"/>
                          <a:cs typeface="Calibri"/>
                        </a:rPr>
                        <a:t>Phases 0–7 of 16 completed</a:t>
                      </a:r>
                      <a:endParaRPr lang="en-US" sz="1600" dirty="0"/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C9D6E8"/>
                      </a:solidFill>
                      <a:prstDash val="soli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rgbClr val="242424"/>
                          </a:solidFill>
                          <a:latin typeface="+mn-lt"/>
                          <a:cs typeface="Calibri"/>
                        </a:rPr>
                        <a:t>All 21 roadmap phases built &amp; tested</a:t>
                      </a:r>
                      <a:endParaRPr lang="en-US" sz="1600" dirty="0"/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C9D6E8"/>
                      </a:solidFill>
                      <a:prstDash val="soli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818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6032" y="1271016"/>
            <a:ext cx="10607040" cy="3931920"/>
          </a:xfrm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2400" b="1" i="0" dirty="0">
                <a:solidFill>
                  <a:srgbClr val="5583D1"/>
                </a:solidFill>
                <a:latin typeface="+mn-lt"/>
                <a:cs typeface="Calibri"/>
              </a:rPr>
              <a:t>Understand the question before answering</a:t>
            </a:r>
          </a:p>
          <a:p>
            <a:pPr marL="342900" indent="-342900">
              <a:lnSpc>
                <a:spcPct val="100000"/>
              </a:lnSpc>
              <a:spcBef>
                <a:spcPts val="1000"/>
              </a:spcBef>
              <a:buClr>
                <a:srgbClr val="5583D1"/>
              </a:buClr>
              <a:buFont typeface="Arial"/>
              <a:buChar char="•"/>
            </a:pPr>
            <a:r>
              <a:rPr lang="en-US" sz="2200" b="0" i="0" dirty="0">
                <a:solidFill>
                  <a:srgbClr val="242424"/>
                </a:solidFill>
                <a:latin typeface="+mn-lt"/>
                <a:cs typeface="Calibri"/>
              </a:rPr>
              <a:t xml:space="preserve">Classifies each query into </a:t>
            </a:r>
            <a:r>
              <a:rPr lang="en-US" sz="2200" b="1" i="0" dirty="0">
                <a:solidFill>
                  <a:srgbClr val="242424"/>
                </a:solidFill>
                <a:latin typeface="+mn-lt"/>
                <a:cs typeface="Calibri"/>
              </a:rPr>
              <a:t>15 legal categories</a:t>
            </a:r>
          </a:p>
          <a:p>
            <a:pPr marL="342900" indent="-342900">
              <a:lnSpc>
                <a:spcPct val="100000"/>
              </a:lnSpc>
              <a:spcBef>
                <a:spcPts val="1000"/>
              </a:spcBef>
              <a:buClr>
                <a:srgbClr val="5583D1"/>
              </a:buClr>
              <a:buFont typeface="Arial"/>
              <a:buChar char="•"/>
            </a:pPr>
            <a:r>
              <a:rPr lang="en-US" sz="2200" b="0" i="0" dirty="0">
                <a:solidFill>
                  <a:srgbClr val="242424"/>
                </a:solidFill>
                <a:latin typeface="+mn-lt"/>
                <a:cs typeface="Calibri"/>
              </a:rPr>
              <a:t xml:space="preserve">Detects </a:t>
            </a:r>
            <a:r>
              <a:rPr lang="en-US" sz="2200" b="1" i="0" dirty="0">
                <a:solidFill>
                  <a:srgbClr val="242424"/>
                </a:solidFill>
                <a:latin typeface="+mn-lt"/>
                <a:cs typeface="Calibri"/>
              </a:rPr>
              <a:t>jurisdiction</a:t>
            </a:r>
            <a:r>
              <a:rPr lang="en-US" sz="2200" b="0" i="0" dirty="0">
                <a:solidFill>
                  <a:srgbClr val="242424"/>
                </a:solidFill>
                <a:latin typeface="+mn-lt"/>
                <a:cs typeface="Calibri"/>
              </a:rPr>
              <a:t xml:space="preserve"> — central, state, court, stamp duty…</a:t>
            </a:r>
          </a:p>
          <a:p>
            <a:pPr marL="342900" indent="-342900">
              <a:lnSpc>
                <a:spcPct val="100000"/>
              </a:lnSpc>
              <a:spcBef>
                <a:spcPts val="1000"/>
              </a:spcBef>
              <a:buClr>
                <a:srgbClr val="5583D1"/>
              </a:buClr>
              <a:buFont typeface="Arial"/>
              <a:buChar char="•"/>
            </a:pPr>
            <a:r>
              <a:rPr lang="en-US" sz="2200" b="0" i="0" dirty="0">
                <a:solidFill>
                  <a:srgbClr val="242424"/>
                </a:solidFill>
                <a:latin typeface="+mn-lt"/>
                <a:cs typeface="Calibri"/>
              </a:rPr>
              <a:t xml:space="preserve">Scores risk: </a:t>
            </a:r>
            <a:r>
              <a:rPr lang="en-US" sz="2200" b="1" i="0" dirty="0">
                <a:solidFill>
                  <a:srgbClr val="242424"/>
                </a:solidFill>
                <a:latin typeface="+mn-lt"/>
                <a:cs typeface="Calibri"/>
              </a:rPr>
              <a:t>LOW / MEDIUM / HIGH / CRITICAL</a:t>
            </a:r>
          </a:p>
          <a:p>
            <a:pPr marL="342900" indent="-342900">
              <a:lnSpc>
                <a:spcPct val="100000"/>
              </a:lnSpc>
              <a:spcBef>
                <a:spcPts val="1000"/>
              </a:spcBef>
              <a:buClr>
                <a:srgbClr val="5583D1"/>
              </a:buClr>
              <a:buFont typeface="Arial"/>
              <a:buChar char="•"/>
            </a:pPr>
            <a:r>
              <a:rPr lang="en-US" sz="2200" b="0" i="0" dirty="0">
                <a:solidFill>
                  <a:srgbClr val="242424"/>
                </a:solidFill>
                <a:latin typeface="+mn-lt"/>
                <a:cs typeface="Calibri"/>
              </a:rPr>
              <a:t xml:space="preserve">HIGH or CRITICAL → </a:t>
            </a:r>
            <a:r>
              <a:rPr lang="en-US" sz="2200" b="1" i="0" dirty="0">
                <a:solidFill>
                  <a:srgbClr val="242424"/>
                </a:solidFill>
                <a:latin typeface="+mn-lt"/>
                <a:cs typeface="Calibri"/>
              </a:rPr>
              <a:t>advocate recommendation</a:t>
            </a:r>
            <a:r>
              <a:rPr lang="en-US" sz="2200" b="0" i="0" dirty="0">
                <a:solidFill>
                  <a:srgbClr val="242424"/>
                </a:solidFill>
                <a:latin typeface="+mn-lt"/>
                <a:cs typeface="Calibri"/>
              </a:rPr>
              <a:t xml:space="preserve"> is added</a:t>
            </a:r>
          </a:p>
          <a:p>
            <a:pPr marL="342900" indent="-342900">
              <a:lnSpc>
                <a:spcPct val="100000"/>
              </a:lnSpc>
              <a:spcBef>
                <a:spcPts val="1000"/>
              </a:spcBef>
              <a:buClr>
                <a:srgbClr val="5583D1"/>
              </a:buClr>
              <a:buFont typeface="Arial"/>
              <a:buChar char="•"/>
            </a:pPr>
            <a:r>
              <a:rPr lang="en-US" sz="2200" b="0" i="0" dirty="0">
                <a:solidFill>
                  <a:srgbClr val="242424"/>
                </a:solidFill>
                <a:latin typeface="+mn-lt"/>
                <a:cs typeface="Calibri"/>
              </a:rPr>
              <a:t>Out-of-scope questions get a fixed, polite reply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Module 2 – Legal Classifier &amp; Risk Engine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rgbClr val="FFFFFF"/>
                </a:solidFill>
              </a:rPr>
              <a:t>LA BOT – Indian Legal Advisor Bot</a:t>
            </a:r>
          </a:p>
        </p:txBody>
      </p:sp>
      <p:sp>
        <p:nvSpPr>
          <p:cNvPr id="101" name="Shape 101"/>
          <p:cNvSpPr/>
          <p:nvPr/>
        </p:nvSpPr>
        <p:spPr>
          <a:xfrm>
            <a:off x="822960" y="4315968"/>
            <a:ext cx="3413760" cy="914400"/>
          </a:xfrm>
          <a:prstGeom prst="roundRect">
            <a:avLst>
              <a:gd name="adj" fmla="val 10000"/>
            </a:avLst>
          </a:prstGeom>
          <a:solidFill>
            <a:srgbClr val="F5F9FD"/>
          </a:solidFill>
          <a:ln w="12700">
            <a:solidFill>
              <a:srgbClr val="C9D6E8"/>
            </a:solidFill>
          </a:ln>
        </p:spPr>
        <p:txBody>
          <a:bodyPr wrap="square" lIns="54864" tIns="54864" rIns="54864" bIns="54864" anchor="ctr" rtlCol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dirty="0">
                <a:solidFill>
                  <a:srgbClr val="1C4D98"/>
                </a:solidFill>
                <a:latin typeface="+mn-lt"/>
                <a:cs typeface="Calibri"/>
              </a:rPr>
              <a:t>15</a:t>
            </a:r>
            <a:endParaRPr lang="en-US" sz="3200" dirty="0"/>
          </a:p>
          <a:p>
            <a:pPr marL="0" indent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404040"/>
                </a:solidFill>
                <a:latin typeface="+mn-lt"/>
                <a:cs typeface="Calibri"/>
              </a:rPr>
              <a:t>legal categories</a:t>
            </a:r>
            <a:endParaRPr lang="en-US" sz="1400" dirty="0"/>
          </a:p>
        </p:txBody>
      </p:sp>
      <p:sp>
        <p:nvSpPr>
          <p:cNvPr id="102" name="Shape 102"/>
          <p:cNvSpPr/>
          <p:nvPr/>
        </p:nvSpPr>
        <p:spPr>
          <a:xfrm>
            <a:off x="4602480" y="4315968"/>
            <a:ext cx="3413760" cy="914400"/>
          </a:xfrm>
          <a:prstGeom prst="roundRect">
            <a:avLst>
              <a:gd name="adj" fmla="val 10000"/>
            </a:avLst>
          </a:prstGeom>
          <a:solidFill>
            <a:srgbClr val="F5F9FD"/>
          </a:solidFill>
          <a:ln w="12700">
            <a:solidFill>
              <a:srgbClr val="C9D6E8"/>
            </a:solidFill>
          </a:ln>
        </p:spPr>
        <p:txBody>
          <a:bodyPr wrap="square" lIns="54864" tIns="54864" rIns="54864" bIns="54864" anchor="ctr" rtlCol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dirty="0">
                <a:solidFill>
                  <a:srgbClr val="1C4D98"/>
                </a:solidFill>
                <a:latin typeface="+mn-lt"/>
                <a:cs typeface="Calibri"/>
              </a:rPr>
              <a:t>8</a:t>
            </a:r>
            <a:endParaRPr lang="en-US" sz="3200" dirty="0"/>
          </a:p>
          <a:p>
            <a:pPr marL="0" indent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404040"/>
                </a:solidFill>
                <a:latin typeface="+mn-lt"/>
                <a:cs typeface="Calibri"/>
              </a:rPr>
              <a:t>jurisdiction scopes</a:t>
            </a:r>
            <a:endParaRPr lang="en-US" sz="1400" dirty="0"/>
          </a:p>
        </p:txBody>
      </p:sp>
      <p:sp>
        <p:nvSpPr>
          <p:cNvPr id="103" name="Shape 103"/>
          <p:cNvSpPr/>
          <p:nvPr/>
        </p:nvSpPr>
        <p:spPr>
          <a:xfrm>
            <a:off x="8382000" y="4315968"/>
            <a:ext cx="3413760" cy="914400"/>
          </a:xfrm>
          <a:prstGeom prst="roundRect">
            <a:avLst>
              <a:gd name="adj" fmla="val 10000"/>
            </a:avLst>
          </a:prstGeom>
          <a:solidFill>
            <a:srgbClr val="F5F9FD"/>
          </a:solidFill>
          <a:ln w="12700">
            <a:solidFill>
              <a:srgbClr val="C9D6E8"/>
            </a:solidFill>
          </a:ln>
        </p:spPr>
        <p:txBody>
          <a:bodyPr wrap="square" lIns="54864" tIns="54864" rIns="54864" bIns="54864" anchor="ctr" rtlCol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dirty="0">
                <a:solidFill>
                  <a:srgbClr val="1C4D98"/>
                </a:solidFill>
                <a:latin typeface="+mn-lt"/>
                <a:cs typeface="Calibri"/>
              </a:rPr>
              <a:t>4</a:t>
            </a:r>
            <a:endParaRPr lang="en-US" sz="3200" dirty="0"/>
          </a:p>
          <a:p>
            <a:pPr marL="0" indent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404040"/>
                </a:solidFill>
                <a:latin typeface="+mn-lt"/>
                <a:cs typeface="Calibri"/>
              </a:rPr>
              <a:t>risk levels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6032" y="1271016"/>
            <a:ext cx="10607040" cy="3931920"/>
          </a:xfrm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2400" b="1" i="0" dirty="0">
                <a:solidFill>
                  <a:srgbClr val="5583D1"/>
                </a:solidFill>
                <a:latin typeface="+mn-lt"/>
                <a:cs typeface="Calibri"/>
              </a:rPr>
              <a:t>Document Assistant</a:t>
            </a:r>
          </a:p>
          <a:p>
            <a:pPr marL="342900" indent="-342900">
              <a:lnSpc>
                <a:spcPct val="100000"/>
              </a:lnSpc>
              <a:spcBef>
                <a:spcPts val="1000"/>
              </a:spcBef>
              <a:buClr>
                <a:srgbClr val="5583D1"/>
              </a:buClr>
              <a:buFont typeface="Arial"/>
              <a:buChar char="•"/>
            </a:pPr>
            <a:r>
              <a:rPr lang="en-US" sz="2200" b="0" i="0" dirty="0">
                <a:solidFill>
                  <a:srgbClr val="242424"/>
                </a:solidFill>
                <a:latin typeface="+mn-lt"/>
                <a:cs typeface="Calibri"/>
              </a:rPr>
              <a:t xml:space="preserve">Guided questionnaire → ready draft for </a:t>
            </a:r>
            <a:r>
              <a:rPr lang="en-US" sz="2200" b="1" i="0" dirty="0">
                <a:solidFill>
                  <a:srgbClr val="242424"/>
                </a:solidFill>
                <a:latin typeface="+mn-lt"/>
                <a:cs typeface="Calibri"/>
              </a:rPr>
              <a:t>11 document types</a:t>
            </a:r>
          </a:p>
          <a:p>
            <a:pPr marL="342900" indent="-342900">
              <a:lnSpc>
                <a:spcPct val="100000"/>
              </a:lnSpc>
              <a:spcBef>
                <a:spcPts val="1000"/>
              </a:spcBef>
              <a:buClr>
                <a:srgbClr val="5583D1"/>
              </a:buClr>
              <a:buFont typeface="Arial"/>
              <a:buChar char="•"/>
            </a:pPr>
            <a:r>
              <a:rPr lang="en-US" sz="2200" b="0" i="0" dirty="0">
                <a:solidFill>
                  <a:srgbClr val="242424"/>
                </a:solidFill>
                <a:latin typeface="+mn-lt"/>
                <a:cs typeface="Calibri"/>
              </a:rPr>
              <a:t>NDA, rental, employment, affidavit, legal notice and more</a:t>
            </a:r>
          </a:p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2400" b="1" i="0" dirty="0">
                <a:solidFill>
                  <a:srgbClr val="5583D1"/>
                </a:solidFill>
                <a:latin typeface="+mn-lt"/>
                <a:cs typeface="Calibri"/>
              </a:rPr>
              <a:t>Advocate Directory</a:t>
            </a:r>
          </a:p>
          <a:p>
            <a:pPr marL="342900" indent="-342900">
              <a:lnSpc>
                <a:spcPct val="100000"/>
              </a:lnSpc>
              <a:spcBef>
                <a:spcPts val="1000"/>
              </a:spcBef>
              <a:buClr>
                <a:srgbClr val="5583D1"/>
              </a:buClr>
              <a:buFont typeface="Arial"/>
              <a:buChar char="•"/>
            </a:pPr>
            <a:r>
              <a:rPr lang="en-US" sz="2200" b="0" i="0" dirty="0">
                <a:solidFill>
                  <a:srgbClr val="242424"/>
                </a:solidFill>
                <a:latin typeface="+mn-lt"/>
                <a:cs typeface="Calibri"/>
              </a:rPr>
              <a:t xml:space="preserve">Find </a:t>
            </a:r>
            <a:r>
              <a:rPr lang="en-US" sz="2200" b="1" i="0" dirty="0">
                <a:solidFill>
                  <a:srgbClr val="242424"/>
                </a:solidFill>
                <a:latin typeface="+mn-lt"/>
                <a:cs typeface="Calibri"/>
              </a:rPr>
              <a:t>verified advocates</a:t>
            </a:r>
            <a:r>
              <a:rPr lang="en-US" sz="2200" b="0" i="0" dirty="0">
                <a:solidFill>
                  <a:srgbClr val="242424"/>
                </a:solidFill>
                <a:latin typeface="+mn-lt"/>
                <a:cs typeface="Calibri"/>
              </a:rPr>
              <a:t xml:space="preserve"> by practice area, state, city and language</a:t>
            </a:r>
          </a:p>
          <a:p>
            <a:pPr marL="342900" indent="-342900">
              <a:lnSpc>
                <a:spcPct val="100000"/>
              </a:lnSpc>
              <a:spcBef>
                <a:spcPts val="1000"/>
              </a:spcBef>
              <a:buClr>
                <a:srgbClr val="5583D1"/>
              </a:buClr>
              <a:buFont typeface="Arial"/>
              <a:buChar char="•"/>
            </a:pPr>
            <a:r>
              <a:rPr lang="en-US" sz="2200" b="0" i="0" dirty="0">
                <a:solidFill>
                  <a:srgbClr val="242424"/>
                </a:solidFill>
                <a:latin typeface="+mn-lt"/>
                <a:cs typeface="Calibri"/>
              </a:rPr>
              <a:t xml:space="preserve">Separate </a:t>
            </a:r>
            <a:r>
              <a:rPr lang="en-US" sz="2200" b="1" i="0" dirty="0">
                <a:solidFill>
                  <a:srgbClr val="242424"/>
                </a:solidFill>
                <a:latin typeface="+mn-lt"/>
                <a:cs typeface="Calibri"/>
              </a:rPr>
              <a:t>advocate portal</a:t>
            </a:r>
            <a:r>
              <a:rPr lang="en-US" sz="2200" b="0" i="0" dirty="0">
                <a:solidFill>
                  <a:srgbClr val="242424"/>
                </a:solidFill>
                <a:latin typeface="+mn-lt"/>
                <a:cs typeface="Calibri"/>
              </a:rPr>
              <a:t xml:space="preserve"> for registration and profile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Module 3 – Documents &amp; Advocate Connect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rgbClr val="FFFFFF"/>
                </a:solidFill>
              </a:rPr>
              <a:t>LA BOT – Indian Legal Advisor Bot</a:t>
            </a:r>
          </a:p>
        </p:txBody>
      </p:sp>
      <p:sp>
        <p:nvSpPr>
          <p:cNvPr id="101" name="Shape 101"/>
          <p:cNvSpPr/>
          <p:nvPr/>
        </p:nvSpPr>
        <p:spPr>
          <a:xfrm>
            <a:off x="822960" y="4315968"/>
            <a:ext cx="3413760" cy="914400"/>
          </a:xfrm>
          <a:prstGeom prst="roundRect">
            <a:avLst>
              <a:gd name="adj" fmla="val 10000"/>
            </a:avLst>
          </a:prstGeom>
          <a:solidFill>
            <a:srgbClr val="F5F9FD"/>
          </a:solidFill>
          <a:ln w="12700">
            <a:solidFill>
              <a:srgbClr val="C9D6E8"/>
            </a:solidFill>
          </a:ln>
        </p:spPr>
        <p:txBody>
          <a:bodyPr wrap="square" lIns="54864" tIns="54864" rIns="54864" bIns="54864" anchor="ctr" rtlCol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dirty="0">
                <a:solidFill>
                  <a:srgbClr val="1C4D98"/>
                </a:solidFill>
                <a:latin typeface="+mn-lt"/>
                <a:cs typeface="Calibri"/>
              </a:rPr>
              <a:t>11</a:t>
            </a:r>
            <a:endParaRPr lang="en-US" sz="3200" dirty="0"/>
          </a:p>
          <a:p>
            <a:pPr marL="0" indent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404040"/>
                </a:solidFill>
                <a:latin typeface="+mn-lt"/>
                <a:cs typeface="Calibri"/>
              </a:rPr>
              <a:t>document types</a:t>
            </a:r>
            <a:endParaRPr lang="en-US" sz="1400" dirty="0"/>
          </a:p>
        </p:txBody>
      </p:sp>
      <p:sp>
        <p:nvSpPr>
          <p:cNvPr id="102" name="Shape 102"/>
          <p:cNvSpPr/>
          <p:nvPr/>
        </p:nvSpPr>
        <p:spPr>
          <a:xfrm>
            <a:off x="4602480" y="4315968"/>
            <a:ext cx="3413760" cy="914400"/>
          </a:xfrm>
          <a:prstGeom prst="roundRect">
            <a:avLst>
              <a:gd name="adj" fmla="val 10000"/>
            </a:avLst>
          </a:prstGeom>
          <a:solidFill>
            <a:srgbClr val="F5F9FD"/>
          </a:solidFill>
          <a:ln w="12700">
            <a:solidFill>
              <a:srgbClr val="C9D6E8"/>
            </a:solidFill>
          </a:ln>
        </p:spPr>
        <p:txBody>
          <a:bodyPr wrap="square" lIns="54864" tIns="54864" rIns="54864" bIns="54864" anchor="ctr" rtlCol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dirty="0">
                <a:solidFill>
                  <a:srgbClr val="1C4D98"/>
                </a:solidFill>
                <a:latin typeface="+mn-lt"/>
                <a:cs typeface="Calibri"/>
              </a:rPr>
              <a:t>2</a:t>
            </a:r>
            <a:endParaRPr lang="en-US" sz="3200" dirty="0"/>
          </a:p>
          <a:p>
            <a:pPr marL="0" indent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404040"/>
                </a:solidFill>
                <a:latin typeface="+mn-lt"/>
                <a:cs typeface="Calibri"/>
              </a:rPr>
              <a:t>web apps: user + advocate</a:t>
            </a:r>
            <a:endParaRPr lang="en-US" sz="1400" dirty="0"/>
          </a:p>
        </p:txBody>
      </p:sp>
      <p:sp>
        <p:nvSpPr>
          <p:cNvPr id="103" name="Shape 103"/>
          <p:cNvSpPr/>
          <p:nvPr/>
        </p:nvSpPr>
        <p:spPr>
          <a:xfrm>
            <a:off x="8382000" y="4315968"/>
            <a:ext cx="3413760" cy="914400"/>
          </a:xfrm>
          <a:prstGeom prst="roundRect">
            <a:avLst>
              <a:gd name="adj" fmla="val 10000"/>
            </a:avLst>
          </a:prstGeom>
          <a:solidFill>
            <a:srgbClr val="F5F9FD"/>
          </a:solidFill>
          <a:ln w="12700">
            <a:solidFill>
              <a:srgbClr val="C9D6E8"/>
            </a:solidFill>
          </a:ln>
        </p:spPr>
        <p:txBody>
          <a:bodyPr wrap="square" lIns="54864" tIns="54864" rIns="54864" bIns="54864" anchor="ctr" rtlCol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dirty="0">
                <a:solidFill>
                  <a:srgbClr val="1C4D98"/>
                </a:solidFill>
                <a:latin typeface="+mn-lt"/>
                <a:cs typeface="Calibri"/>
              </a:rPr>
              <a:t>5</a:t>
            </a:r>
            <a:endParaRPr lang="en-US" sz="3200" dirty="0"/>
          </a:p>
          <a:p>
            <a:pPr marL="0" indent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404040"/>
                </a:solidFill>
                <a:latin typeface="+mn-lt"/>
                <a:cs typeface="Calibri"/>
              </a:rPr>
              <a:t>user roles (RBAC)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726612-73E0-5A94-F635-3A742DD5BA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6032" y="1271016"/>
            <a:ext cx="10607040" cy="2377440"/>
          </a:xfrm>
        </p:spPr>
        <p:txBody>
          <a:bodyPr/>
          <a:lstStyle/>
          <a:p>
            <a:pPr marL="342900" indent="-342900">
              <a:lnSpc>
                <a:spcPct val="100000"/>
              </a:lnSpc>
              <a:spcBef>
                <a:spcPts val="1000"/>
              </a:spcBef>
              <a:buClr>
                <a:srgbClr val="5583D1"/>
              </a:buClr>
              <a:buFont typeface="Arial"/>
              <a:buChar char="•"/>
            </a:pPr>
            <a:r>
              <a:rPr lang="en-US" sz="2400" b="0" i="0" dirty="0">
                <a:solidFill>
                  <a:srgbClr val="242424"/>
                </a:solidFill>
                <a:latin typeface="+mn-lt"/>
                <a:cs typeface="Calibri"/>
              </a:rPr>
              <a:t>Burnout builds up quietly — it is often noticed only when it is too late</a:t>
            </a:r>
          </a:p>
          <a:p>
            <a:pPr marL="342900" indent="-342900">
              <a:lnSpc>
                <a:spcPct val="100000"/>
              </a:lnSpc>
              <a:spcBef>
                <a:spcPts val="1000"/>
              </a:spcBef>
              <a:buClr>
                <a:srgbClr val="5583D1"/>
              </a:buClr>
              <a:buFont typeface="Arial"/>
              <a:buChar char="•"/>
            </a:pPr>
            <a:r>
              <a:rPr lang="en-US" sz="2400" b="1" i="0" dirty="0">
                <a:solidFill>
                  <a:srgbClr val="242424"/>
                </a:solidFill>
                <a:latin typeface="+mn-lt"/>
                <a:cs typeface="Calibri"/>
              </a:rPr>
              <a:t>WorkWell AI</a:t>
            </a:r>
            <a:r>
              <a:rPr lang="en-US" sz="2400" b="0" i="0" dirty="0">
                <a:solidFill>
                  <a:srgbClr val="242424"/>
                </a:solidFill>
                <a:latin typeface="+mn-lt"/>
                <a:cs typeface="Calibri"/>
              </a:rPr>
              <a:t xml:space="preserve"> is an early-warning and support platform for employee wellbeing</a:t>
            </a:r>
          </a:p>
          <a:p>
            <a:pPr marL="342900" indent="-342900">
              <a:lnSpc>
                <a:spcPct val="100000"/>
              </a:lnSpc>
              <a:spcBef>
                <a:spcPts val="1000"/>
              </a:spcBef>
              <a:buClr>
                <a:srgbClr val="5583D1"/>
              </a:buClr>
              <a:buFont typeface="Arial"/>
              <a:buChar char="•"/>
            </a:pPr>
            <a:r>
              <a:rPr lang="en-US" sz="2400" b="0" i="0" dirty="0">
                <a:solidFill>
                  <a:srgbClr val="242424"/>
                </a:solidFill>
                <a:latin typeface="+mn-lt"/>
                <a:cs typeface="Calibri"/>
              </a:rPr>
              <a:t xml:space="preserve">It learns each person’s </a:t>
            </a:r>
            <a:r>
              <a:rPr lang="en-US" sz="2400" b="1" i="0" dirty="0">
                <a:solidFill>
                  <a:srgbClr val="242424"/>
                </a:solidFill>
                <a:latin typeface="+mn-lt"/>
                <a:cs typeface="Calibri"/>
              </a:rPr>
              <a:t>own work rhythm</a:t>
            </a:r>
            <a:r>
              <a:rPr lang="en-US" sz="2400" b="0" i="0" dirty="0">
                <a:solidFill>
                  <a:srgbClr val="242424"/>
                </a:solidFill>
                <a:latin typeface="+mn-lt"/>
                <a:cs typeface="Calibri"/>
              </a:rPr>
              <a:t xml:space="preserve"> and spots </a:t>
            </a:r>
            <a:r>
              <a:rPr lang="en-US" sz="2400" b="1" i="0" dirty="0">
                <a:solidFill>
                  <a:srgbClr val="242424"/>
                </a:solidFill>
                <a:latin typeface="+mn-lt"/>
                <a:cs typeface="Calibri"/>
              </a:rPr>
              <a:t>lasting changes</a:t>
            </a:r>
          </a:p>
          <a:p>
            <a:pPr marL="342900" indent="-342900">
              <a:lnSpc>
                <a:spcPct val="100000"/>
              </a:lnSpc>
              <a:spcBef>
                <a:spcPts val="1000"/>
              </a:spcBef>
              <a:buClr>
                <a:srgbClr val="5583D1"/>
              </a:buClr>
              <a:buFont typeface="Arial"/>
              <a:buChar char="•"/>
            </a:pPr>
            <a:r>
              <a:rPr lang="en-US" sz="2400" b="0" i="0" dirty="0">
                <a:solidFill>
                  <a:srgbClr val="242424"/>
                </a:solidFill>
                <a:latin typeface="+mn-lt"/>
                <a:cs typeface="Calibri"/>
              </a:rPr>
              <a:t xml:space="preserve">It offers </a:t>
            </a:r>
            <a:r>
              <a:rPr lang="en-US" sz="2400" b="1" i="0" dirty="0">
                <a:solidFill>
                  <a:srgbClr val="242424"/>
                </a:solidFill>
                <a:latin typeface="+mn-lt"/>
                <a:cs typeface="Calibri"/>
              </a:rPr>
              <a:t>private, gentle support</a:t>
            </a:r>
            <a:r>
              <a:rPr lang="en-US" sz="2400" b="0" i="0" dirty="0">
                <a:solidFill>
                  <a:srgbClr val="242424"/>
                </a:solidFill>
                <a:latin typeface="+mn-lt"/>
                <a:cs typeface="Calibri"/>
              </a:rPr>
              <a:t xml:space="preserve"> — never a diagnosis or a “risk score”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WorkWell AI – Employee Wellness Platform</a:t>
            </a:r>
          </a:p>
        </p:txBody>
      </p:sp>
      <p:sp>
        <p:nvSpPr>
          <p:cNvPr id="101" name="Shape 101"/>
          <p:cNvSpPr/>
          <p:nvPr/>
        </p:nvSpPr>
        <p:spPr>
          <a:xfrm>
            <a:off x="411480" y="3749040"/>
            <a:ext cx="2468880" cy="777240"/>
          </a:xfrm>
          <a:prstGeom prst="roundRect">
            <a:avLst>
              <a:gd name="adj" fmla="val 12000"/>
            </a:avLst>
          </a:prstGeom>
          <a:solidFill>
            <a:srgbClr val="1C4D98"/>
          </a:solidFill>
          <a:ln>
            <a:noFill/>
          </a:ln>
        </p:spPr>
        <p:txBody>
          <a:bodyPr wrap="square" lIns="54864" tIns="54864" rIns="54864" bIns="54864" anchor="ctr" rtlCol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FFFFFF"/>
                </a:solidFill>
                <a:latin typeface="+mn-lt"/>
                <a:cs typeface="Calibri"/>
              </a:rPr>
              <a:t>Approved work signals</a:t>
            </a:r>
            <a:endParaRPr lang="en-US" sz="1600" dirty="0"/>
          </a:p>
        </p:txBody>
      </p:sp>
      <p:sp>
        <p:nvSpPr>
          <p:cNvPr id="102" name="Shape 102"/>
          <p:cNvSpPr/>
          <p:nvPr/>
        </p:nvSpPr>
        <p:spPr>
          <a:xfrm>
            <a:off x="3383280" y="3749040"/>
            <a:ext cx="2468880" cy="777240"/>
          </a:xfrm>
          <a:prstGeom prst="roundRect">
            <a:avLst>
              <a:gd name="adj" fmla="val 12000"/>
            </a:avLst>
          </a:prstGeom>
          <a:solidFill>
            <a:srgbClr val="2A6DB0"/>
          </a:solidFill>
          <a:ln>
            <a:noFill/>
          </a:ln>
        </p:spPr>
        <p:txBody>
          <a:bodyPr wrap="square" lIns="54864" tIns="54864" rIns="54864" bIns="54864" anchor="ctr" rtlCol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FFFFFF"/>
                </a:solidFill>
                <a:latin typeface="+mn-lt"/>
                <a:cs typeface="Calibri"/>
              </a:rPr>
              <a:t>Personal baseline</a:t>
            </a:r>
            <a:endParaRPr lang="en-US" sz="1600" dirty="0"/>
          </a:p>
        </p:txBody>
      </p:sp>
      <p:cxnSp>
        <p:nvCxnSpPr>
          <p:cNvPr id="103" name="Arrow 103"/>
          <p:cNvCxnSpPr/>
          <p:nvPr/>
        </p:nvCxnSpPr>
        <p:spPr>
          <a:xfrm>
            <a:off x="2916936" y="4137660"/>
            <a:ext cx="429768" cy="0"/>
          </a:xfrm>
          <a:prstGeom prst="straightConnector1">
            <a:avLst/>
          </a:prstGeom>
          <a:ln w="22225">
            <a:solidFill>
              <a:srgbClr val="8497B0"/>
            </a:solidFill>
            <a:tailEnd type="triangle" w="med" len="med"/>
          </a:ln>
        </p:spPr>
      </p:cxnSp>
      <p:sp>
        <p:nvSpPr>
          <p:cNvPr id="104" name="Shape 104"/>
          <p:cNvSpPr/>
          <p:nvPr/>
        </p:nvSpPr>
        <p:spPr>
          <a:xfrm>
            <a:off x="6355080" y="3749040"/>
            <a:ext cx="2468880" cy="777240"/>
          </a:xfrm>
          <a:prstGeom prst="roundRect">
            <a:avLst>
              <a:gd name="adj" fmla="val 12000"/>
            </a:avLst>
          </a:prstGeom>
          <a:solidFill>
            <a:srgbClr val="3793A6"/>
          </a:solidFill>
          <a:ln>
            <a:noFill/>
          </a:ln>
        </p:spPr>
        <p:txBody>
          <a:bodyPr wrap="square" lIns="54864" tIns="54864" rIns="54864" bIns="54864" anchor="ctr" rtlCol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FFFFFF"/>
                </a:solidFill>
                <a:latin typeface="+mn-lt"/>
                <a:cs typeface="Calibri"/>
              </a:rPr>
              <a:t>Lasting change found</a:t>
            </a:r>
            <a:endParaRPr lang="en-US" sz="1600" dirty="0"/>
          </a:p>
        </p:txBody>
      </p:sp>
      <p:cxnSp>
        <p:nvCxnSpPr>
          <p:cNvPr id="105" name="Arrow 105"/>
          <p:cNvCxnSpPr/>
          <p:nvPr/>
        </p:nvCxnSpPr>
        <p:spPr>
          <a:xfrm>
            <a:off x="5888736" y="4137660"/>
            <a:ext cx="429768" cy="0"/>
          </a:xfrm>
          <a:prstGeom prst="straightConnector1">
            <a:avLst/>
          </a:prstGeom>
          <a:ln w="22225">
            <a:solidFill>
              <a:srgbClr val="8497B0"/>
            </a:solidFill>
            <a:tailEnd type="triangle" w="med" len="med"/>
          </a:ln>
        </p:spPr>
      </p:cxnSp>
      <p:sp>
        <p:nvSpPr>
          <p:cNvPr id="106" name="Shape 106"/>
          <p:cNvSpPr/>
          <p:nvPr/>
        </p:nvSpPr>
        <p:spPr>
          <a:xfrm>
            <a:off x="9326880" y="3749040"/>
            <a:ext cx="2468880" cy="777240"/>
          </a:xfrm>
          <a:prstGeom prst="roundRect">
            <a:avLst>
              <a:gd name="adj" fmla="val 12000"/>
            </a:avLst>
          </a:prstGeom>
          <a:solidFill>
            <a:srgbClr val="47BDAF"/>
          </a:solidFill>
          <a:ln>
            <a:noFill/>
          </a:ln>
        </p:spPr>
        <p:txBody>
          <a:bodyPr wrap="square" lIns="54864" tIns="54864" rIns="54864" bIns="54864" anchor="ctr" rtlCol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FFFFFF"/>
                </a:solidFill>
                <a:latin typeface="+mn-lt"/>
                <a:cs typeface="Calibri"/>
              </a:rPr>
              <a:t>Gentle support</a:t>
            </a:r>
            <a:endParaRPr lang="en-US" sz="1600" dirty="0"/>
          </a:p>
        </p:txBody>
      </p:sp>
      <p:cxnSp>
        <p:nvCxnSpPr>
          <p:cNvPr id="107" name="Arrow 107"/>
          <p:cNvCxnSpPr/>
          <p:nvPr/>
        </p:nvCxnSpPr>
        <p:spPr>
          <a:xfrm>
            <a:off x="8860536" y="4137660"/>
            <a:ext cx="429768" cy="0"/>
          </a:xfrm>
          <a:prstGeom prst="straightConnector1">
            <a:avLst/>
          </a:prstGeom>
          <a:ln w="22225">
            <a:solidFill>
              <a:srgbClr val="8497B0"/>
            </a:solidFill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208818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D551BF-43EB-C049-6D3B-4D17D57752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6032" y="1325880"/>
            <a:ext cx="10607040" cy="3931920"/>
          </a:xfrm>
        </p:spPr>
        <p:txBody>
          <a:bodyPr/>
          <a:lstStyle/>
          <a:p>
            <a:pPr marL="457200" indent="-457200">
              <a:lnSpc>
                <a:spcPct val="100000"/>
              </a:lnSpc>
              <a:spcBef>
                <a:spcPts val="1400"/>
              </a:spcBef>
              <a:buClr>
                <a:srgbClr val="5583D1"/>
              </a:buClr>
              <a:buFont typeface="+mj-lt"/>
              <a:buAutoNum type="arabicPeriod"/>
            </a:pPr>
            <a:r>
              <a:rPr lang="en-US" sz="2400" b="0" i="0" dirty="0">
                <a:solidFill>
                  <a:srgbClr val="242424"/>
                </a:solidFill>
                <a:latin typeface="+mn-lt"/>
                <a:cs typeface="Calibri"/>
              </a:rPr>
              <a:t xml:space="preserve">Detect </a:t>
            </a:r>
            <a:r>
              <a:rPr lang="en-US" sz="2400" b="1" i="0" dirty="0">
                <a:solidFill>
                  <a:srgbClr val="242424"/>
                </a:solidFill>
                <a:latin typeface="+mn-lt"/>
                <a:cs typeface="Calibri"/>
              </a:rPr>
              <a:t>sustained changes</a:t>
            </a:r>
            <a:r>
              <a:rPr lang="en-US" sz="2400" b="0" i="0" dirty="0">
                <a:solidFill>
                  <a:srgbClr val="242424"/>
                </a:solidFill>
                <a:latin typeface="+mn-lt"/>
                <a:cs typeface="Calibri"/>
              </a:rPr>
              <a:t xml:space="preserve"> in an employee’s own work pattern early</a:t>
            </a:r>
          </a:p>
          <a:p>
            <a:pPr marL="457200" indent="-457200">
              <a:lnSpc>
                <a:spcPct val="100000"/>
              </a:lnSpc>
              <a:spcBef>
                <a:spcPts val="1400"/>
              </a:spcBef>
              <a:buClr>
                <a:srgbClr val="5583D1"/>
              </a:buClr>
              <a:buFont typeface="+mj-lt"/>
              <a:buAutoNum type="arabicPeriod"/>
            </a:pPr>
            <a:r>
              <a:rPr lang="en-US" sz="2400" b="0" i="0" dirty="0">
                <a:solidFill>
                  <a:srgbClr val="242424"/>
                </a:solidFill>
                <a:latin typeface="+mn-lt"/>
                <a:cs typeface="Calibri"/>
              </a:rPr>
              <a:t xml:space="preserve">Keep detection </a:t>
            </a:r>
            <a:r>
              <a:rPr lang="en-US" sz="2400" b="1" i="0" dirty="0">
                <a:solidFill>
                  <a:srgbClr val="242424"/>
                </a:solidFill>
                <a:latin typeface="+mn-lt"/>
                <a:cs typeface="Calibri"/>
              </a:rPr>
              <a:t>deterministic and explainable</a:t>
            </a:r>
            <a:r>
              <a:rPr lang="en-US" sz="2400" b="0" i="0" dirty="0">
                <a:solidFill>
                  <a:srgbClr val="242424"/>
                </a:solidFill>
                <a:latin typeface="+mn-lt"/>
                <a:cs typeface="Calibri"/>
              </a:rPr>
              <a:t xml:space="preserve"> — statistics, not LLM guesses</a:t>
            </a:r>
          </a:p>
          <a:p>
            <a:pPr marL="457200" indent="-457200">
              <a:lnSpc>
                <a:spcPct val="100000"/>
              </a:lnSpc>
              <a:spcBef>
                <a:spcPts val="1400"/>
              </a:spcBef>
              <a:buClr>
                <a:srgbClr val="5583D1"/>
              </a:buClr>
              <a:buFont typeface="+mj-lt"/>
              <a:buAutoNum type="arabicPeriod"/>
            </a:pPr>
            <a:r>
              <a:rPr lang="en-US" sz="2400" b="0" i="0" dirty="0">
                <a:solidFill>
                  <a:srgbClr val="242424"/>
                </a:solidFill>
                <a:latin typeface="+mn-lt"/>
                <a:cs typeface="Calibri"/>
              </a:rPr>
              <a:t xml:space="preserve">Use </a:t>
            </a:r>
            <a:r>
              <a:rPr lang="en-US" sz="2400" b="1" i="0" dirty="0">
                <a:solidFill>
                  <a:srgbClr val="242424"/>
                </a:solidFill>
                <a:latin typeface="+mn-lt"/>
                <a:cs typeface="Calibri"/>
              </a:rPr>
              <a:t>agentic AI + RAG</a:t>
            </a:r>
            <a:r>
              <a:rPr lang="en-US" sz="2400" b="0" i="0" dirty="0">
                <a:solidFill>
                  <a:srgbClr val="242424"/>
                </a:solidFill>
                <a:latin typeface="+mn-lt"/>
                <a:cs typeface="Calibri"/>
              </a:rPr>
              <a:t xml:space="preserve"> to suggest the least-intrusive support</a:t>
            </a:r>
          </a:p>
          <a:p>
            <a:pPr marL="457200" indent="-457200">
              <a:lnSpc>
                <a:spcPct val="100000"/>
              </a:lnSpc>
              <a:spcBef>
                <a:spcPts val="1400"/>
              </a:spcBef>
              <a:buClr>
                <a:srgbClr val="5583D1"/>
              </a:buClr>
              <a:buFont typeface="+mj-lt"/>
              <a:buAutoNum type="arabicPeriod"/>
            </a:pPr>
            <a:r>
              <a:rPr lang="en-US" sz="2400" b="0" i="0" dirty="0">
                <a:solidFill>
                  <a:srgbClr val="242424"/>
                </a:solidFill>
                <a:latin typeface="+mn-lt"/>
                <a:cs typeface="Calibri"/>
              </a:rPr>
              <a:t xml:space="preserve">Protect privacy — </a:t>
            </a:r>
            <a:r>
              <a:rPr lang="en-US" sz="2400" b="1" i="0" dirty="0">
                <a:solidFill>
                  <a:srgbClr val="242424"/>
                </a:solidFill>
                <a:latin typeface="+mn-lt"/>
                <a:cs typeface="Calibri"/>
              </a:rPr>
              <a:t>consent first</a:t>
            </a:r>
            <a:r>
              <a:rPr lang="en-US" sz="2400" b="0" i="0" dirty="0">
                <a:solidFill>
                  <a:srgbClr val="242424"/>
                </a:solidFill>
                <a:latin typeface="+mn-lt"/>
                <a:cs typeface="Calibri"/>
              </a:rPr>
              <a:t>; no webcam, keystrokes, messages or audio</a:t>
            </a:r>
          </a:p>
          <a:p>
            <a:pPr marL="457200" indent="-457200">
              <a:lnSpc>
                <a:spcPct val="100000"/>
              </a:lnSpc>
              <a:spcBef>
                <a:spcPts val="1400"/>
              </a:spcBef>
              <a:buClr>
                <a:srgbClr val="5583D1"/>
              </a:buClr>
              <a:buFont typeface="+mj-lt"/>
              <a:buAutoNum type="arabicPeriod"/>
            </a:pPr>
            <a:r>
              <a:rPr lang="en-US" sz="2400" b="0" i="0" dirty="0">
                <a:solidFill>
                  <a:srgbClr val="242424"/>
                </a:solidFill>
                <a:latin typeface="+mn-lt"/>
                <a:cs typeface="Calibri"/>
              </a:rPr>
              <a:t xml:space="preserve">Give managers </a:t>
            </a:r>
            <a:r>
              <a:rPr lang="en-US" sz="2400" b="1" i="0" dirty="0">
                <a:solidFill>
                  <a:srgbClr val="242424"/>
                </a:solidFill>
                <a:latin typeface="+mn-lt"/>
                <a:cs typeface="Calibri"/>
              </a:rPr>
              <a:t>team-level trends only</a:t>
            </a:r>
            <a:r>
              <a:rPr lang="en-US" sz="2400" b="0" i="0" dirty="0">
                <a:solidFill>
                  <a:srgbClr val="242424"/>
                </a:solidFill>
                <a:latin typeface="+mn-lt"/>
                <a:cs typeface="Calibri"/>
              </a:rPr>
              <a:t xml:space="preserve"> — never individual data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Objective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4452DD5-D934-4955-F39B-2109AC72692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WorkWell AI – Employee Wellness Platform</a:t>
            </a:r>
          </a:p>
        </p:txBody>
      </p:sp>
    </p:spTree>
    <p:extLst>
      <p:ext uri="{BB962C8B-B14F-4D97-AF65-F5344CB8AC3E}">
        <p14:creationId xmlns:p14="http://schemas.microsoft.com/office/powerpoint/2010/main" val="1739450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6032" y="1271016"/>
            <a:ext cx="10607040" cy="3931920"/>
          </a:xfrm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2400" b="1" i="0" dirty="0">
                <a:solidFill>
                  <a:srgbClr val="5583D1"/>
                </a:solidFill>
                <a:latin typeface="+mn-lt"/>
                <a:cs typeface="Calibri"/>
              </a:rPr>
              <a:t>Consent-first data collection</a:t>
            </a:r>
          </a:p>
          <a:p>
            <a:pPr marL="342900" indent="-342900">
              <a:lnSpc>
                <a:spcPct val="100000"/>
              </a:lnSpc>
              <a:spcBef>
                <a:spcPts val="1000"/>
              </a:spcBef>
              <a:buClr>
                <a:srgbClr val="5583D1"/>
              </a:buClr>
              <a:buFont typeface="Arial"/>
              <a:buChar char="•"/>
            </a:pPr>
            <a:r>
              <a:rPr lang="en-US" sz="2200" b="0" i="0" dirty="0">
                <a:solidFill>
                  <a:srgbClr val="242424"/>
                </a:solidFill>
                <a:latin typeface="+mn-lt"/>
                <a:cs typeface="Calibri"/>
              </a:rPr>
              <a:t>Approved signals only: work hours, app switches, meetings, typing rhythm</a:t>
            </a:r>
          </a:p>
          <a:p>
            <a:pPr marL="342900" indent="-342900">
              <a:lnSpc>
                <a:spcPct val="100000"/>
              </a:lnSpc>
              <a:spcBef>
                <a:spcPts val="1000"/>
              </a:spcBef>
              <a:buClr>
                <a:srgbClr val="5583D1"/>
              </a:buClr>
              <a:buFont typeface="Arial"/>
              <a:buChar char="•"/>
            </a:pPr>
            <a:r>
              <a:rPr lang="en-US" sz="2200" b="0" i="0" dirty="0">
                <a:solidFill>
                  <a:srgbClr val="242424"/>
                </a:solidFill>
                <a:latin typeface="+mn-lt"/>
                <a:cs typeface="Calibri"/>
              </a:rPr>
              <a:t xml:space="preserve">Consent is checked </a:t>
            </a:r>
            <a:r>
              <a:rPr lang="en-US" sz="2200" b="1" i="0" dirty="0">
                <a:solidFill>
                  <a:srgbClr val="242424"/>
                </a:solidFill>
                <a:latin typeface="+mn-lt"/>
                <a:cs typeface="Calibri"/>
              </a:rPr>
              <a:t>twice</a:t>
            </a:r>
            <a:r>
              <a:rPr lang="en-US" sz="2200" b="0" i="0" dirty="0">
                <a:solidFill>
                  <a:srgbClr val="242424"/>
                </a:solidFill>
                <a:latin typeface="+mn-lt"/>
                <a:cs typeface="Calibri"/>
              </a:rPr>
              <a:t xml:space="preserve"> — on the device and on the server</a:t>
            </a:r>
          </a:p>
          <a:p>
            <a:pPr marL="342900" indent="-342900">
              <a:lnSpc>
                <a:spcPct val="100000"/>
              </a:lnSpc>
              <a:spcBef>
                <a:spcPts val="1000"/>
              </a:spcBef>
              <a:buClr>
                <a:srgbClr val="5583D1"/>
              </a:buClr>
              <a:buFont typeface="Arial"/>
              <a:buChar char="•"/>
            </a:pPr>
            <a:r>
              <a:rPr lang="en-US" sz="2200" b="1" i="0" dirty="0">
                <a:solidFill>
                  <a:srgbClr val="242424"/>
                </a:solidFill>
                <a:latin typeface="+mn-lt"/>
                <a:cs typeface="Calibri"/>
              </a:rPr>
              <a:t>Never collected:</a:t>
            </a:r>
            <a:r>
              <a:rPr lang="en-US" sz="2200" b="0" i="0" dirty="0">
                <a:solidFill>
                  <a:srgbClr val="242424"/>
                </a:solidFill>
                <a:latin typeface="+mn-lt"/>
                <a:cs typeface="Calibri"/>
              </a:rPr>
              <a:t xml:space="preserve"> webcam, raw keystrokes, message content, audio</a:t>
            </a:r>
          </a:p>
          <a:p>
            <a:pPr marL="342900" indent="-342900">
              <a:lnSpc>
                <a:spcPct val="100000"/>
              </a:lnSpc>
              <a:spcBef>
                <a:spcPts val="1000"/>
              </a:spcBef>
              <a:buClr>
                <a:srgbClr val="5583D1"/>
              </a:buClr>
              <a:buFont typeface="Arial"/>
              <a:buChar char="•"/>
            </a:pPr>
            <a:r>
              <a:rPr lang="en-US" sz="2200" b="0" i="0" dirty="0">
                <a:solidFill>
                  <a:srgbClr val="242424"/>
                </a:solidFill>
                <a:latin typeface="+mn-lt"/>
                <a:cs typeface="Calibri"/>
              </a:rPr>
              <a:t xml:space="preserve">Each device has its own token — the employee can </a:t>
            </a:r>
            <a:r>
              <a:rPr lang="en-US" sz="2200" b="1" i="0" dirty="0">
                <a:solidFill>
                  <a:srgbClr val="242424"/>
                </a:solidFill>
                <a:latin typeface="+mn-lt"/>
                <a:cs typeface="Calibri"/>
              </a:rPr>
              <a:t>revoke</a:t>
            </a:r>
            <a:r>
              <a:rPr lang="en-US" sz="2200" b="0" i="0" dirty="0">
                <a:solidFill>
                  <a:srgbClr val="242424"/>
                </a:solidFill>
                <a:latin typeface="+mn-lt"/>
                <a:cs typeface="Calibri"/>
              </a:rPr>
              <a:t xml:space="preserve"> it anytime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Module 1 – Desktop Agent &amp; Privacy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rgbClr val="FFFFFF"/>
                </a:solidFill>
              </a:rPr>
              <a:t>WorkWell AI – Employee Wellness Platform</a:t>
            </a:r>
          </a:p>
        </p:txBody>
      </p:sp>
      <p:sp>
        <p:nvSpPr>
          <p:cNvPr id="101" name="Shape 101"/>
          <p:cNvSpPr/>
          <p:nvPr/>
        </p:nvSpPr>
        <p:spPr>
          <a:xfrm>
            <a:off x="822960" y="3840480"/>
            <a:ext cx="3413760" cy="1051560"/>
          </a:xfrm>
          <a:prstGeom prst="roundRect">
            <a:avLst>
              <a:gd name="adj" fmla="val 10000"/>
            </a:avLst>
          </a:prstGeom>
          <a:solidFill>
            <a:srgbClr val="F5F9FD"/>
          </a:solidFill>
          <a:ln w="12700">
            <a:solidFill>
              <a:srgbClr val="C9D6E8"/>
            </a:solidFill>
          </a:ln>
        </p:spPr>
        <p:txBody>
          <a:bodyPr wrap="square" lIns="54864" tIns="54864" rIns="54864" bIns="54864" anchor="ctr" rtlCol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dirty="0">
                <a:solidFill>
                  <a:srgbClr val="1C4D98"/>
                </a:solidFill>
                <a:latin typeface="+mn-lt"/>
                <a:cs typeface="Calibri"/>
              </a:rPr>
              <a:t>5</a:t>
            </a:r>
            <a:endParaRPr lang="en-US" sz="3200" dirty="0"/>
          </a:p>
          <a:p>
            <a:pPr marL="0" indent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404040"/>
                </a:solidFill>
                <a:latin typeface="+mn-lt"/>
                <a:cs typeface="Calibri"/>
              </a:rPr>
              <a:t>signal groups collected</a:t>
            </a:r>
            <a:endParaRPr lang="en-US" sz="1400" dirty="0"/>
          </a:p>
        </p:txBody>
      </p:sp>
      <p:sp>
        <p:nvSpPr>
          <p:cNvPr id="102" name="Shape 102"/>
          <p:cNvSpPr/>
          <p:nvPr/>
        </p:nvSpPr>
        <p:spPr>
          <a:xfrm>
            <a:off x="4602480" y="3840480"/>
            <a:ext cx="3413760" cy="1051560"/>
          </a:xfrm>
          <a:prstGeom prst="roundRect">
            <a:avLst>
              <a:gd name="adj" fmla="val 10000"/>
            </a:avLst>
          </a:prstGeom>
          <a:solidFill>
            <a:srgbClr val="F5F9FD"/>
          </a:solidFill>
          <a:ln w="12700">
            <a:solidFill>
              <a:srgbClr val="C9D6E8"/>
            </a:solidFill>
          </a:ln>
        </p:spPr>
        <p:txBody>
          <a:bodyPr wrap="square" lIns="54864" tIns="54864" rIns="54864" bIns="54864" anchor="ctr" rtlCol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dirty="0">
                <a:solidFill>
                  <a:srgbClr val="1C4D98"/>
                </a:solidFill>
                <a:latin typeface="+mn-lt"/>
                <a:cs typeface="Calibri"/>
              </a:rPr>
              <a:t>2×</a:t>
            </a:r>
            <a:endParaRPr lang="en-US" sz="3200" dirty="0"/>
          </a:p>
          <a:p>
            <a:pPr marL="0" indent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404040"/>
                </a:solidFill>
                <a:latin typeface="+mn-lt"/>
                <a:cs typeface="Calibri"/>
              </a:rPr>
              <a:t>consent checks</a:t>
            </a:r>
            <a:endParaRPr lang="en-US" sz="1400" dirty="0"/>
          </a:p>
        </p:txBody>
      </p:sp>
      <p:sp>
        <p:nvSpPr>
          <p:cNvPr id="103" name="Shape 103"/>
          <p:cNvSpPr/>
          <p:nvPr/>
        </p:nvSpPr>
        <p:spPr>
          <a:xfrm>
            <a:off x="8382000" y="3840480"/>
            <a:ext cx="3413760" cy="1051560"/>
          </a:xfrm>
          <a:prstGeom prst="roundRect">
            <a:avLst>
              <a:gd name="adj" fmla="val 10000"/>
            </a:avLst>
          </a:prstGeom>
          <a:solidFill>
            <a:srgbClr val="F5F9FD"/>
          </a:solidFill>
          <a:ln w="12700">
            <a:solidFill>
              <a:srgbClr val="C9D6E8"/>
            </a:solidFill>
          </a:ln>
        </p:spPr>
        <p:txBody>
          <a:bodyPr wrap="square" lIns="54864" tIns="54864" rIns="54864" bIns="54864" anchor="ctr" rtlCol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dirty="0">
                <a:solidFill>
                  <a:srgbClr val="1C4D98"/>
                </a:solidFill>
                <a:latin typeface="+mn-lt"/>
                <a:cs typeface="Calibri"/>
              </a:rPr>
              <a:t>4</a:t>
            </a:r>
            <a:endParaRPr lang="en-US" sz="3200" dirty="0"/>
          </a:p>
          <a:p>
            <a:pPr marL="0" indent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404040"/>
                </a:solidFill>
                <a:latin typeface="+mn-lt"/>
                <a:cs typeface="Calibri"/>
              </a:rPr>
              <a:t>sources never collected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6032" y="1271016"/>
            <a:ext cx="5943600" cy="3931920"/>
          </a:xfrm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2400" b="1" i="0" dirty="0">
                <a:solidFill>
                  <a:srgbClr val="5583D1"/>
                </a:solidFill>
                <a:latin typeface="+mn-lt"/>
                <a:cs typeface="Calibri"/>
              </a:rPr>
              <a:t>Personal baseline, not a population average</a:t>
            </a:r>
          </a:p>
          <a:p>
            <a:pPr marL="342900" indent="-342900">
              <a:lnSpc>
                <a:spcPct val="100000"/>
              </a:lnSpc>
              <a:spcBef>
                <a:spcPts val="1000"/>
              </a:spcBef>
              <a:buClr>
                <a:srgbClr val="5583D1"/>
              </a:buClr>
              <a:buFont typeface="Arial"/>
              <a:buChar char="•"/>
            </a:pPr>
            <a:r>
              <a:rPr lang="en-US" sz="2000" b="0" i="0" dirty="0">
                <a:solidFill>
                  <a:srgbClr val="242424"/>
                </a:solidFill>
                <a:latin typeface="+mn-lt"/>
                <a:cs typeface="Calibri"/>
              </a:rPr>
              <a:t xml:space="preserve">Daily features from </a:t>
            </a:r>
            <a:r>
              <a:rPr lang="en-US" sz="2000" b="1" i="0" dirty="0">
                <a:solidFill>
                  <a:srgbClr val="242424"/>
                </a:solidFill>
                <a:latin typeface="+mn-lt"/>
                <a:cs typeface="Calibri"/>
              </a:rPr>
              <a:t>5 signal groups</a:t>
            </a:r>
          </a:p>
          <a:p>
            <a:pPr marL="342900" indent="-342900">
              <a:lnSpc>
                <a:spcPct val="100000"/>
              </a:lnSpc>
              <a:spcBef>
                <a:spcPts val="1000"/>
              </a:spcBef>
              <a:buClr>
                <a:srgbClr val="5583D1"/>
              </a:buClr>
              <a:buFont typeface="Arial"/>
              <a:buChar char="•"/>
            </a:pPr>
            <a:r>
              <a:rPr lang="en-US" sz="2000" b="0" i="0" dirty="0">
                <a:solidFill>
                  <a:srgbClr val="242424"/>
                </a:solidFill>
                <a:latin typeface="+mn-lt"/>
                <a:cs typeface="Calibri"/>
              </a:rPr>
              <a:t xml:space="preserve">Baseline = </a:t>
            </a:r>
            <a:r>
              <a:rPr lang="en-US" sz="2000" b="1" i="0" dirty="0">
                <a:solidFill>
                  <a:srgbClr val="242424"/>
                </a:solidFill>
                <a:latin typeface="+mn-lt"/>
                <a:cs typeface="Calibri"/>
              </a:rPr>
              <a:t>median &amp; MAD</a:t>
            </a:r>
            <a:r>
              <a:rPr lang="en-US" sz="2000" b="0" i="0" dirty="0">
                <a:solidFill>
                  <a:srgbClr val="242424"/>
                </a:solidFill>
                <a:latin typeface="+mn-lt"/>
                <a:cs typeface="Calibri"/>
              </a:rPr>
              <a:t xml:space="preserve"> of own last 7–14 days</a:t>
            </a:r>
          </a:p>
          <a:p>
            <a:pPr marL="342900" indent="-342900">
              <a:lnSpc>
                <a:spcPct val="100000"/>
              </a:lnSpc>
              <a:spcBef>
                <a:spcPts val="1000"/>
              </a:spcBef>
              <a:buClr>
                <a:srgbClr val="5583D1"/>
              </a:buClr>
              <a:buFont typeface="Arial"/>
              <a:buChar char="•"/>
            </a:pPr>
            <a:r>
              <a:rPr lang="en-US" sz="2000" b="0" i="0" dirty="0">
                <a:solidFill>
                  <a:srgbClr val="242424"/>
                </a:solidFill>
                <a:latin typeface="+mn-lt"/>
                <a:cs typeface="Calibri"/>
              </a:rPr>
              <a:t xml:space="preserve">Robust z-score </a:t>
            </a:r>
            <a:r>
              <a:rPr lang="en-US" sz="2000" b="1" i="0" dirty="0">
                <a:solidFill>
                  <a:srgbClr val="242424"/>
                </a:solidFill>
                <a:latin typeface="+mn-lt"/>
                <a:cs typeface="Calibri"/>
              </a:rPr>
              <a:t>&gt; 2.5</a:t>
            </a:r>
            <a:r>
              <a:rPr lang="en-US" sz="2000" b="0" i="0" dirty="0">
                <a:solidFill>
                  <a:srgbClr val="242424"/>
                </a:solidFill>
                <a:latin typeface="+mn-lt"/>
                <a:cs typeface="Calibri"/>
              </a:rPr>
              <a:t xml:space="preserve"> → unusual day</a:t>
            </a:r>
          </a:p>
          <a:p>
            <a:pPr marL="342900" indent="-342900">
              <a:lnSpc>
                <a:spcPct val="100000"/>
              </a:lnSpc>
              <a:spcBef>
                <a:spcPts val="1000"/>
              </a:spcBef>
              <a:buClr>
                <a:srgbClr val="5583D1"/>
              </a:buClr>
              <a:buFont typeface="Arial"/>
              <a:buChar char="•"/>
            </a:pPr>
            <a:r>
              <a:rPr lang="en-US" sz="2000" b="1" i="0" dirty="0">
                <a:solidFill>
                  <a:srgbClr val="242424"/>
                </a:solidFill>
                <a:latin typeface="+mn-lt"/>
                <a:cs typeface="Calibri"/>
              </a:rPr>
              <a:t>5 unusual days in a row</a:t>
            </a:r>
            <a:r>
              <a:rPr lang="en-US" sz="2000" b="0" i="0" dirty="0">
                <a:solidFill>
                  <a:srgbClr val="242424"/>
                </a:solidFill>
                <a:latin typeface="+mn-lt"/>
                <a:cs typeface="Calibri"/>
              </a:rPr>
              <a:t xml:space="preserve"> → persistent pattern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Module 2 – Detection Core (ML)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rgbClr val="FFFFFF"/>
                </a:solidFill>
              </a:rPr>
              <a:t>WorkWell AI – Employee Wellness Platform</a:t>
            </a:r>
          </a:p>
        </p:txBody>
      </p:sp>
      <p:sp>
        <p:nvSpPr>
          <p:cNvPr id="101" name="Shape 101"/>
          <p:cNvSpPr/>
          <p:nvPr/>
        </p:nvSpPr>
        <p:spPr>
          <a:xfrm>
            <a:off x="6537960" y="1417320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5583D1"/>
                </a:solidFill>
                <a:latin typeface="+mn-lt"/>
                <a:cs typeface="Calibri"/>
              </a:rPr>
              <a:t>Evaluation on synthetic data</a:t>
            </a:r>
            <a:endParaRPr lang="en-US" sz="1600" dirty="0"/>
          </a:p>
        </p:txBody>
      </p:sp>
      <p:graphicFrame>
        <p:nvGraphicFramePr>
          <p:cNvPr id="102" name="Table 102"/>
          <p:cNvGraphicFramePr>
            <a:graphicFrameLocks noGrp="1"/>
          </p:cNvGraphicFramePr>
          <p:nvPr/>
        </p:nvGraphicFramePr>
        <p:xfrm>
          <a:off x="6537960" y="1828800"/>
          <a:ext cx="5212080" cy="2523744"/>
        </p:xfrm>
        <a:graphic>
          <a:graphicData uri="http://schemas.openxmlformats.org/drawingml/2006/table">
            <a:tbl>
              <a:tblPr firstRow="1" bandRow="1"/>
              <a:tblGrid>
                <a:gridCol w="2103120"/>
                <a:gridCol w="1554480"/>
                <a:gridCol w="1554480"/>
              </a:tblGrid>
              <a:tr h="420624">
                <a:tc>
                  <a:txBody>
                    <a:bodyPr/>
                    <a:lstStyle/>
                    <a:p>
                      <a:pPr algn="l"/>
                      <a:r>
                        <a:rPr lang="en-US" sz="1500" b="1" i="0" dirty="0">
                          <a:solidFill>
                            <a:srgbClr val="FFFFFF"/>
                          </a:solidFill>
                          <a:latin typeface="+mn-lt"/>
                          <a:cs typeface="Calibri"/>
                        </a:rPr>
                        <a:t>Metric</a:t>
                      </a:r>
                      <a:endParaRPr lang="en-US" sz="1500" dirty="0"/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C9D6E8"/>
                      </a:solidFill>
                      <a:prstDash val="soli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</a:lnB>
                    <a:solidFill>
                      <a:srgbClr val="1C4D9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i="0" dirty="0">
                          <a:solidFill>
                            <a:srgbClr val="FFFFFF"/>
                          </a:solidFill>
                          <a:latin typeface="+mn-lt"/>
                          <a:cs typeface="Calibri"/>
                        </a:rPr>
                        <a:t>Personal</a:t>
                      </a:r>
                      <a:endParaRPr lang="en-US" sz="1500" dirty="0"/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C9D6E8"/>
                      </a:solidFill>
                      <a:prstDash val="soli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</a:lnB>
                    <a:solidFill>
                      <a:srgbClr val="1C4D9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i="0" dirty="0">
                          <a:solidFill>
                            <a:srgbClr val="FFFFFF"/>
                          </a:solidFill>
                          <a:latin typeface="+mn-lt"/>
                          <a:cs typeface="Calibri"/>
                        </a:rPr>
                        <a:t>Population</a:t>
                      </a:r>
                      <a:endParaRPr lang="en-US" sz="1500" dirty="0"/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C9D6E8"/>
                      </a:solidFill>
                      <a:prstDash val="soli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</a:lnB>
                    <a:solidFill>
                      <a:srgbClr val="1C4D9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lang="en-US" sz="1400" b="1" i="0" dirty="0">
                          <a:solidFill>
                            <a:srgbClr val="2E4D6B"/>
                          </a:solidFill>
                          <a:latin typeface="+mn-lt"/>
                          <a:cs typeface="Calibri"/>
                        </a:rPr>
                        <a:t>Precision</a:t>
                      </a:r>
                      <a:endParaRPr lang="en-US" sz="1400" dirty="0"/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C9D6E8"/>
                      </a:solidFill>
                      <a:prstDash val="soli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 dirty="0">
                          <a:solidFill>
                            <a:srgbClr val="38761D"/>
                          </a:solidFill>
                          <a:latin typeface="+mn-lt"/>
                          <a:cs typeface="Calibri"/>
                        </a:rPr>
                        <a:t>0.96</a:t>
                      </a:r>
                      <a:endParaRPr lang="en-US" sz="1400" dirty="0"/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C9D6E8"/>
                      </a:solidFill>
                      <a:prstDash val="soli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solidFill>
                            <a:srgbClr val="242424"/>
                          </a:solidFill>
                          <a:latin typeface="+mn-lt"/>
                          <a:cs typeface="Calibri"/>
                        </a:rPr>
                        <a:t>0.00</a:t>
                      </a:r>
                      <a:endParaRPr lang="en-US" sz="1400" dirty="0"/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C9D6E8"/>
                      </a:solidFill>
                      <a:prstDash val="soli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</a:lnB>
                    <a:solidFill>
                      <a:srgbClr val="EAF2F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lang="en-US" sz="1400" b="1" i="0" dirty="0">
                          <a:solidFill>
                            <a:srgbClr val="2E4D6B"/>
                          </a:solidFill>
                          <a:latin typeface="+mn-lt"/>
                          <a:cs typeface="Calibri"/>
                        </a:rPr>
                        <a:t>Recall</a:t>
                      </a:r>
                      <a:endParaRPr lang="en-US" sz="1400" dirty="0"/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C9D6E8"/>
                      </a:solidFill>
                      <a:prstDash val="soli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 dirty="0">
                          <a:solidFill>
                            <a:srgbClr val="38761D"/>
                          </a:solidFill>
                          <a:latin typeface="+mn-lt"/>
                          <a:cs typeface="Calibri"/>
                        </a:rPr>
                        <a:t>0.75</a:t>
                      </a:r>
                      <a:endParaRPr lang="en-US" sz="1400" dirty="0"/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C9D6E8"/>
                      </a:solidFill>
                      <a:prstDash val="soli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solidFill>
                            <a:srgbClr val="242424"/>
                          </a:solidFill>
                          <a:latin typeface="+mn-lt"/>
                          <a:cs typeface="Calibri"/>
                        </a:rPr>
                        <a:t>0.00</a:t>
                      </a:r>
                      <a:endParaRPr lang="en-US" sz="1400" dirty="0"/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C9D6E8"/>
                      </a:solidFill>
                      <a:prstDash val="soli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lang="en-US" sz="1400" b="1" i="0" dirty="0">
                          <a:solidFill>
                            <a:srgbClr val="2E4D6B"/>
                          </a:solidFill>
                          <a:latin typeface="+mn-lt"/>
                          <a:cs typeface="Calibri"/>
                        </a:rPr>
                        <a:t>AUROC</a:t>
                      </a:r>
                      <a:endParaRPr lang="en-US" sz="1400" dirty="0"/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C9D6E8"/>
                      </a:solidFill>
                      <a:prstDash val="soli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 dirty="0">
                          <a:solidFill>
                            <a:srgbClr val="38761D"/>
                          </a:solidFill>
                          <a:latin typeface="+mn-lt"/>
                          <a:cs typeface="Calibri"/>
                        </a:rPr>
                        <a:t>0.99</a:t>
                      </a:r>
                      <a:endParaRPr lang="en-US" sz="1400" dirty="0"/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C9D6E8"/>
                      </a:solidFill>
                      <a:prstDash val="soli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solidFill>
                            <a:srgbClr val="242424"/>
                          </a:solidFill>
                          <a:latin typeface="+mn-lt"/>
                          <a:cs typeface="Calibri"/>
                        </a:rPr>
                        <a:t>0.35</a:t>
                      </a:r>
                      <a:endParaRPr lang="en-US" sz="1400" dirty="0"/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C9D6E8"/>
                      </a:solidFill>
                      <a:prstDash val="soli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</a:lnB>
                    <a:solidFill>
                      <a:srgbClr val="EAF2F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lang="en-US" sz="1400" b="1" i="0" dirty="0">
                          <a:solidFill>
                            <a:srgbClr val="2E4D6B"/>
                          </a:solidFill>
                          <a:latin typeface="+mn-lt"/>
                          <a:cs typeface="Calibri"/>
                        </a:rPr>
                        <a:t>Episodes found</a:t>
                      </a:r>
                      <a:endParaRPr lang="en-US" sz="1400" dirty="0"/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C9D6E8"/>
                      </a:solidFill>
                      <a:prstDash val="soli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 dirty="0">
                          <a:solidFill>
                            <a:srgbClr val="38761D"/>
                          </a:solidFill>
                          <a:latin typeface="+mn-lt"/>
                          <a:cs typeface="Calibri"/>
                        </a:rPr>
                        <a:t>13 / 13</a:t>
                      </a:r>
                      <a:endParaRPr lang="en-US" sz="1400" dirty="0"/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C9D6E8"/>
                      </a:solidFill>
                      <a:prstDash val="soli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solidFill>
                            <a:srgbClr val="242424"/>
                          </a:solidFill>
                          <a:latin typeface="+mn-lt"/>
                          <a:cs typeface="Calibri"/>
                        </a:rPr>
                        <a:t>0 / 13</a:t>
                      </a:r>
                      <a:endParaRPr lang="en-US" sz="1400" dirty="0"/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C9D6E8"/>
                      </a:solidFill>
                      <a:prstDash val="soli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lang="en-US" sz="1400" b="1" i="0" dirty="0">
                          <a:solidFill>
                            <a:srgbClr val="2E4D6B"/>
                          </a:solidFill>
                          <a:latin typeface="+mn-lt"/>
                          <a:cs typeface="Calibri"/>
                        </a:rPr>
                        <a:t>False alarms on stable high-workload staff</a:t>
                      </a:r>
                      <a:endParaRPr lang="en-US" sz="1400" dirty="0"/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C9D6E8"/>
                      </a:solidFill>
                      <a:prstDash val="soli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 dirty="0">
                          <a:solidFill>
                            <a:srgbClr val="38761D"/>
                          </a:solidFill>
                          <a:latin typeface="+mn-lt"/>
                          <a:cs typeface="Calibri"/>
                        </a:rPr>
                        <a:t>0.00</a:t>
                      </a:r>
                      <a:endParaRPr lang="en-US" sz="1400" dirty="0"/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C9D6E8"/>
                      </a:solidFill>
                      <a:prstDash val="soli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solidFill>
                            <a:srgbClr val="242424"/>
                          </a:solidFill>
                          <a:latin typeface="+mn-lt"/>
                          <a:cs typeface="Calibri"/>
                        </a:rPr>
                        <a:t>0.77</a:t>
                      </a:r>
                      <a:endParaRPr lang="en-US" sz="1400" dirty="0"/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C9D6E8"/>
                      </a:solidFill>
                      <a:prstDash val="soli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</a:lnB>
                    <a:solidFill>
                      <a:srgbClr val="EAF2FB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6032" y="1271016"/>
            <a:ext cx="10607040" cy="3931920"/>
          </a:xfrm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2400" b="1" i="0" dirty="0">
                <a:solidFill>
                  <a:srgbClr val="5583D1"/>
                </a:solidFill>
                <a:latin typeface="+mn-lt"/>
                <a:cs typeface="Calibri"/>
              </a:rPr>
              <a:t>Explain, support, protect</a:t>
            </a:r>
          </a:p>
          <a:p>
            <a:pPr marL="342900" indent="-342900">
              <a:lnSpc>
                <a:spcPct val="100000"/>
              </a:lnSpc>
              <a:spcBef>
                <a:spcPts val="1000"/>
              </a:spcBef>
              <a:buClr>
                <a:srgbClr val="5583D1"/>
              </a:buClr>
              <a:buFont typeface="Arial"/>
              <a:buChar char="•"/>
            </a:pPr>
            <a:r>
              <a:rPr lang="en-US" sz="2200" b="1" i="0" dirty="0">
                <a:solidFill>
                  <a:srgbClr val="242424"/>
                </a:solidFill>
                <a:latin typeface="+mn-lt"/>
                <a:cs typeface="Calibri"/>
              </a:rPr>
              <a:t>Fixed agent workflow</a:t>
            </a:r>
            <a:r>
              <a:rPr lang="en-US" sz="2200" b="0" i="0" dirty="0">
                <a:solidFill>
                  <a:srgbClr val="242424"/>
                </a:solidFill>
                <a:latin typeface="+mn-lt"/>
                <a:cs typeface="Calibri"/>
              </a:rPr>
              <a:t xml:space="preserve"> — the LLM never decides scores or next steps</a:t>
            </a:r>
          </a:p>
          <a:p>
            <a:pPr marL="342900" indent="-342900">
              <a:lnSpc>
                <a:spcPct val="100000"/>
              </a:lnSpc>
              <a:spcBef>
                <a:spcPts val="1000"/>
              </a:spcBef>
              <a:buClr>
                <a:srgbClr val="5583D1"/>
              </a:buClr>
              <a:buFont typeface="Arial"/>
              <a:buChar char="•"/>
            </a:pPr>
            <a:r>
              <a:rPr lang="en-US" sz="2200" b="1" i="0" dirty="0">
                <a:solidFill>
                  <a:srgbClr val="242424"/>
                </a:solidFill>
                <a:latin typeface="+mn-lt"/>
                <a:cs typeface="Calibri"/>
              </a:rPr>
              <a:t>Gemini</a:t>
            </a:r>
            <a:r>
              <a:rPr lang="en-US" sz="2200" b="0" i="0" dirty="0">
                <a:solidFill>
                  <a:srgbClr val="242424"/>
                </a:solidFill>
                <a:latin typeface="+mn-lt"/>
                <a:cs typeface="Calibri"/>
              </a:rPr>
              <a:t xml:space="preserve"> turns computed evidence into plain, friendly sentences</a:t>
            </a:r>
          </a:p>
          <a:p>
            <a:pPr marL="342900" indent="-342900">
              <a:lnSpc>
                <a:spcPct val="100000"/>
              </a:lnSpc>
              <a:spcBef>
                <a:spcPts val="1000"/>
              </a:spcBef>
              <a:buClr>
                <a:srgbClr val="5583D1"/>
              </a:buClr>
              <a:buFont typeface="Arial"/>
              <a:buChar char="•"/>
            </a:pPr>
            <a:r>
              <a:rPr lang="en-US" sz="2200" b="1" i="0" dirty="0">
                <a:solidFill>
                  <a:srgbClr val="242424"/>
                </a:solidFill>
                <a:latin typeface="+mn-lt"/>
                <a:cs typeface="Calibri"/>
              </a:rPr>
              <a:t>RAG</a:t>
            </a:r>
            <a:r>
              <a:rPr lang="en-US" sz="2200" b="0" i="0" dirty="0">
                <a:solidFill>
                  <a:srgbClr val="242424"/>
                </a:solidFill>
                <a:latin typeface="+mn-lt"/>
                <a:cs typeface="Calibri"/>
              </a:rPr>
              <a:t xml:space="preserve"> over WHO, occupational-health and company-policy guides</a:t>
            </a:r>
          </a:p>
          <a:p>
            <a:pPr marL="342900" indent="-342900">
              <a:lnSpc>
                <a:spcPct val="100000"/>
              </a:lnSpc>
              <a:spcBef>
                <a:spcPts val="1000"/>
              </a:spcBef>
              <a:buClr>
                <a:srgbClr val="5583D1"/>
              </a:buClr>
              <a:buFont typeface="Arial"/>
              <a:buChar char="•"/>
            </a:pPr>
            <a:r>
              <a:rPr lang="en-US" sz="2200" b="0" i="0" dirty="0">
                <a:solidFill>
                  <a:srgbClr val="242424"/>
                </a:solidFill>
                <a:latin typeface="+mn-lt"/>
                <a:cs typeface="Calibri"/>
              </a:rPr>
              <a:t>Nudges: focus block, shutdown reminder, recovery break, support offer</a:t>
            </a:r>
          </a:p>
          <a:p>
            <a:pPr marL="342900" indent="-342900">
              <a:lnSpc>
                <a:spcPct val="100000"/>
              </a:lnSpc>
              <a:spcBef>
                <a:spcPts val="1000"/>
              </a:spcBef>
              <a:buClr>
                <a:srgbClr val="5583D1"/>
              </a:buClr>
              <a:buFont typeface="Arial"/>
              <a:buChar char="•"/>
            </a:pPr>
            <a:r>
              <a:rPr lang="en-US" sz="2200" b="0" i="0" dirty="0">
                <a:solidFill>
                  <a:srgbClr val="242424"/>
                </a:solidFill>
                <a:latin typeface="+mn-lt"/>
                <a:cs typeface="Calibri"/>
              </a:rPr>
              <a:t xml:space="preserve">Independent </a:t>
            </a:r>
            <a:r>
              <a:rPr lang="en-US" sz="2200" b="1" i="0" dirty="0">
                <a:solidFill>
                  <a:srgbClr val="242424"/>
                </a:solidFill>
                <a:latin typeface="+mn-lt"/>
                <a:cs typeface="Calibri"/>
              </a:rPr>
              <a:t>safety check</a:t>
            </a:r>
            <a:r>
              <a:rPr lang="en-US" sz="2200" b="0" i="0" dirty="0">
                <a:solidFill>
                  <a:srgbClr val="242424"/>
                </a:solidFill>
                <a:latin typeface="+mn-lt"/>
                <a:cs typeface="Calibri"/>
              </a:rPr>
              <a:t xml:space="preserve"> on chat → crisis resources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Module 3 – Agentic AI, RAG &amp; Safety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rgbClr val="FFFFFF"/>
                </a:solidFill>
              </a:rPr>
              <a:t>WorkWell AI – Employee Wellness Platform</a:t>
            </a:r>
          </a:p>
        </p:txBody>
      </p:sp>
      <p:sp>
        <p:nvSpPr>
          <p:cNvPr id="101" name="Shape 101"/>
          <p:cNvSpPr/>
          <p:nvPr/>
        </p:nvSpPr>
        <p:spPr>
          <a:xfrm>
            <a:off x="822960" y="4315968"/>
            <a:ext cx="3413760" cy="914400"/>
          </a:xfrm>
          <a:prstGeom prst="roundRect">
            <a:avLst>
              <a:gd name="adj" fmla="val 10000"/>
            </a:avLst>
          </a:prstGeom>
          <a:solidFill>
            <a:srgbClr val="F5F9FD"/>
          </a:solidFill>
          <a:ln w="12700">
            <a:solidFill>
              <a:srgbClr val="C9D6E8"/>
            </a:solidFill>
          </a:ln>
        </p:spPr>
        <p:txBody>
          <a:bodyPr wrap="square" lIns="54864" tIns="54864" rIns="54864" bIns="54864" anchor="ctr" rtlCol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dirty="0">
                <a:solidFill>
                  <a:srgbClr val="1C4D98"/>
                </a:solidFill>
                <a:latin typeface="+mn-lt"/>
                <a:cs typeface="Calibri"/>
              </a:rPr>
              <a:t>0</a:t>
            </a:r>
            <a:endParaRPr lang="en-US" sz="3200" dirty="0"/>
          </a:p>
          <a:p>
            <a:pPr marL="0" indent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404040"/>
                </a:solidFill>
                <a:latin typeface="+mn-lt"/>
                <a:cs typeface="Calibri"/>
              </a:rPr>
              <a:t>scores decided by the LLM</a:t>
            </a:r>
            <a:endParaRPr lang="en-US" sz="1400" dirty="0"/>
          </a:p>
        </p:txBody>
      </p:sp>
      <p:sp>
        <p:nvSpPr>
          <p:cNvPr id="102" name="Shape 102"/>
          <p:cNvSpPr/>
          <p:nvPr/>
        </p:nvSpPr>
        <p:spPr>
          <a:xfrm>
            <a:off x="4602480" y="4315968"/>
            <a:ext cx="3413760" cy="914400"/>
          </a:xfrm>
          <a:prstGeom prst="roundRect">
            <a:avLst>
              <a:gd name="adj" fmla="val 10000"/>
            </a:avLst>
          </a:prstGeom>
          <a:solidFill>
            <a:srgbClr val="F5F9FD"/>
          </a:solidFill>
          <a:ln w="12700">
            <a:solidFill>
              <a:srgbClr val="C9D6E8"/>
            </a:solidFill>
          </a:ln>
        </p:spPr>
        <p:txBody>
          <a:bodyPr wrap="square" lIns="54864" tIns="54864" rIns="54864" bIns="54864" anchor="ctr" rtlCol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dirty="0">
                <a:solidFill>
                  <a:srgbClr val="1C4D98"/>
                </a:solidFill>
                <a:latin typeface="+mn-lt"/>
                <a:cs typeface="Calibri"/>
              </a:rPr>
              <a:t>4</a:t>
            </a:r>
            <a:endParaRPr lang="en-US" sz="3200" dirty="0"/>
          </a:p>
          <a:p>
            <a:pPr marL="0" indent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404040"/>
                </a:solidFill>
                <a:latin typeface="+mn-lt"/>
                <a:cs typeface="Calibri"/>
              </a:rPr>
              <a:t>nudge types</a:t>
            </a:r>
            <a:endParaRPr lang="en-US" sz="1400" dirty="0"/>
          </a:p>
        </p:txBody>
      </p:sp>
      <p:sp>
        <p:nvSpPr>
          <p:cNvPr id="103" name="Shape 103"/>
          <p:cNvSpPr/>
          <p:nvPr/>
        </p:nvSpPr>
        <p:spPr>
          <a:xfrm>
            <a:off x="8382000" y="4315968"/>
            <a:ext cx="3413760" cy="914400"/>
          </a:xfrm>
          <a:prstGeom prst="roundRect">
            <a:avLst>
              <a:gd name="adj" fmla="val 10000"/>
            </a:avLst>
          </a:prstGeom>
          <a:solidFill>
            <a:srgbClr val="F5F9FD"/>
          </a:solidFill>
          <a:ln w="12700">
            <a:solidFill>
              <a:srgbClr val="C9D6E8"/>
            </a:solidFill>
          </a:ln>
        </p:spPr>
        <p:txBody>
          <a:bodyPr wrap="square" lIns="54864" tIns="54864" rIns="54864" bIns="54864" anchor="ctr" rtlCol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dirty="0">
                <a:solidFill>
                  <a:srgbClr val="1C4D98"/>
                </a:solidFill>
                <a:latin typeface="+mn-lt"/>
                <a:cs typeface="Calibri"/>
              </a:rPr>
              <a:t>12</a:t>
            </a:r>
            <a:endParaRPr lang="en-US" sz="3200" dirty="0"/>
          </a:p>
          <a:p>
            <a:pPr marL="0" indent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404040"/>
                </a:solidFill>
                <a:latin typeface="+mn-lt"/>
                <a:cs typeface="Calibri"/>
              </a:rPr>
              <a:t>guidance docs in RAG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D7CD-C158-6FC1-06C7-09444D2D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B15F4B8-EED0-F7BE-96C7-D7AAE989A2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/>
              </a:rPr>
              <a:t>Methodology / Modeling Plan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882B44-FCE4-BF93-E951-46CF2238FB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CE164B1-01DD-BF3B-88E8-DF2DEDBFA9EB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WorkWell AI – Employee Wellness Platform</a:t>
            </a:r>
          </a:p>
        </p:txBody>
      </p:sp>
      <p:graphicFrame>
        <p:nvGraphicFramePr>
          <p:cNvPr id="101" name="Table 101"/>
          <p:cNvGraphicFramePr>
            <a:graphicFrameLocks noGrp="1"/>
          </p:cNvGraphicFramePr>
          <p:nvPr/>
        </p:nvGraphicFramePr>
        <p:xfrm>
          <a:off x="320040" y="1463040"/>
          <a:ext cx="11521440" cy="3328416"/>
        </p:xfrm>
        <a:graphic>
          <a:graphicData uri="http://schemas.openxmlformats.org/drawingml/2006/table">
            <a:tbl>
              <a:tblPr firstRow="1" bandRow="1"/>
              <a:tblGrid>
                <a:gridCol w="2468880"/>
                <a:gridCol w="6035040"/>
                <a:gridCol w="3017520"/>
              </a:tblGrid>
              <a:tr h="475488">
                <a:tc>
                  <a:txBody>
                    <a:bodyPr/>
                    <a:lstStyle/>
                    <a:p>
                      <a:pPr algn="l"/>
                      <a:r>
                        <a:rPr lang="en-US" sz="1700" b="1" i="0" dirty="0">
                          <a:solidFill>
                            <a:srgbClr val="FFFFFF"/>
                          </a:solidFill>
                          <a:latin typeface="+mn-lt"/>
                          <a:cs typeface="Calibri"/>
                        </a:rPr>
                        <a:t>Step</a:t>
                      </a:r>
                      <a:endParaRPr lang="en-US" sz="1700" dirty="0"/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C9D6E8"/>
                      </a:solidFill>
                      <a:prstDash val="soli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</a:lnB>
                    <a:solidFill>
                      <a:srgbClr val="1C4D9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700" b="1" i="0" dirty="0">
                          <a:solidFill>
                            <a:srgbClr val="FFFFFF"/>
                          </a:solidFill>
                          <a:latin typeface="+mn-lt"/>
                          <a:cs typeface="Calibri"/>
                        </a:rPr>
                        <a:t>Method</a:t>
                      </a:r>
                      <a:endParaRPr lang="en-US" sz="1700" dirty="0"/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C9D6E8"/>
                      </a:solidFill>
                      <a:prstDash val="soli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</a:lnB>
                    <a:solidFill>
                      <a:srgbClr val="1C4D9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700" b="1" i="0" dirty="0">
                          <a:solidFill>
                            <a:srgbClr val="FFFFFF"/>
                          </a:solidFill>
                          <a:latin typeface="+mn-lt"/>
                          <a:cs typeface="Calibri"/>
                        </a:rPr>
                        <a:t>Rule</a:t>
                      </a:r>
                      <a:endParaRPr lang="en-US" sz="1700" dirty="0"/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C9D6E8"/>
                      </a:solidFill>
                      <a:prstDash val="soli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</a:lnB>
                    <a:solidFill>
                      <a:srgbClr val="1C4D9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lang="en-US" sz="1600" b="1" i="0" dirty="0">
                          <a:solidFill>
                            <a:srgbClr val="2E4D6B"/>
                          </a:solidFill>
                          <a:latin typeface="+mn-lt"/>
                          <a:cs typeface="Calibri"/>
                        </a:rPr>
                        <a:t>1. Features</a:t>
                      </a:r>
                      <a:endParaRPr lang="en-US" sz="1600" dirty="0"/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C9D6E8"/>
                      </a:solidFill>
                      <a:prstDash val="soli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rgbClr val="242424"/>
                          </a:solidFill>
                          <a:latin typeface="+mn-lt"/>
                          <a:cs typeface="Calibri"/>
                        </a:rPr>
                        <a:t>Daily feature vector per employee (5 signal groups)</a:t>
                      </a:r>
                      <a:endParaRPr lang="en-US" sz="1600" dirty="0"/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C9D6E8"/>
                      </a:solidFill>
                      <a:prstDash val="soli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rgbClr val="242424"/>
                          </a:solidFill>
                          <a:latin typeface="+mn-lt"/>
                          <a:cs typeface="Calibri"/>
                        </a:rPr>
                        <a:t>Complete days only</a:t>
                      </a:r>
                      <a:endParaRPr lang="en-US" sz="1600" dirty="0"/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C9D6E8"/>
                      </a:solidFill>
                      <a:prstDash val="soli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</a:lnB>
                    <a:solidFill>
                      <a:srgbClr val="EAF2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lang="en-US" sz="1600" b="1" i="0" dirty="0">
                          <a:solidFill>
                            <a:srgbClr val="2E4D6B"/>
                          </a:solidFill>
                          <a:latin typeface="+mn-lt"/>
                          <a:cs typeface="Calibri"/>
                        </a:rPr>
                        <a:t>2. Personal baseline</a:t>
                      </a:r>
                      <a:endParaRPr lang="en-US" sz="1600" dirty="0"/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C9D6E8"/>
                      </a:solidFill>
                      <a:prstDash val="soli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rgbClr val="242424"/>
                          </a:solidFill>
                          <a:latin typeface="+mn-lt"/>
                          <a:cs typeface="Calibri"/>
                        </a:rPr>
                        <a:t>Median + MAD, weekday pattern and trend</a:t>
                      </a:r>
                      <a:endParaRPr lang="en-US" sz="1600" dirty="0"/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C9D6E8"/>
                      </a:solidFill>
                      <a:prstDash val="soli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rgbClr val="242424"/>
                          </a:solidFill>
                          <a:latin typeface="+mn-lt"/>
                          <a:cs typeface="Calibri"/>
                        </a:rPr>
                        <a:t>Min. 7 days of history</a:t>
                      </a:r>
                      <a:endParaRPr lang="en-US" sz="1600" dirty="0"/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C9D6E8"/>
                      </a:solidFill>
                      <a:prstDash val="soli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lang="en-US" sz="1600" b="1" i="0" dirty="0">
                          <a:solidFill>
                            <a:srgbClr val="2E4D6B"/>
                          </a:solidFill>
                          <a:latin typeface="+mn-lt"/>
                          <a:cs typeface="Calibri"/>
                        </a:rPr>
                        <a:t>3. Anomaly detection</a:t>
                      </a:r>
                      <a:endParaRPr lang="en-US" sz="1600" dirty="0"/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C9D6E8"/>
                      </a:solidFill>
                      <a:prstDash val="soli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rgbClr val="242424"/>
                          </a:solidFill>
                          <a:latin typeface="+mn-lt"/>
                          <a:cs typeface="Calibri"/>
                        </a:rPr>
                        <a:t>Robust z-score against own baseline</a:t>
                      </a:r>
                      <a:endParaRPr lang="en-US" sz="1600" dirty="0"/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C9D6E8"/>
                      </a:solidFill>
                      <a:prstDash val="soli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rgbClr val="242424"/>
                          </a:solidFill>
                          <a:latin typeface="+mn-lt"/>
                          <a:cs typeface="Calibri"/>
                        </a:rPr>
                        <a:t>|z| &gt; 2.5</a:t>
                      </a:r>
                      <a:endParaRPr lang="en-US" sz="1600" dirty="0"/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C9D6E8"/>
                      </a:solidFill>
                      <a:prstDash val="soli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</a:lnB>
                    <a:solidFill>
                      <a:srgbClr val="EAF2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lang="en-US" sz="1600" b="1" i="0" dirty="0">
                          <a:solidFill>
                            <a:srgbClr val="2E4D6B"/>
                          </a:solidFill>
                          <a:latin typeface="+mn-lt"/>
                          <a:cs typeface="Calibri"/>
                        </a:rPr>
                        <a:t>4. Persistence</a:t>
                      </a:r>
                      <a:endParaRPr lang="en-US" sz="1600" dirty="0"/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C9D6E8"/>
                      </a:solidFill>
                      <a:prstDash val="soli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rgbClr val="242424"/>
                          </a:solidFill>
                          <a:latin typeface="+mn-lt"/>
                          <a:cs typeface="Calibri"/>
                        </a:rPr>
                        <a:t>Count consecutive unusual days</a:t>
                      </a:r>
                      <a:endParaRPr lang="en-US" sz="1600" dirty="0"/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C9D6E8"/>
                      </a:solidFill>
                      <a:prstDash val="soli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rgbClr val="242424"/>
                          </a:solidFill>
                          <a:latin typeface="+mn-lt"/>
                          <a:cs typeface="Calibri"/>
                        </a:rPr>
                        <a:t>≥ 5 days in a row</a:t>
                      </a:r>
                      <a:endParaRPr lang="en-US" sz="1600" dirty="0"/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C9D6E8"/>
                      </a:solidFill>
                      <a:prstDash val="soli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lang="en-US" sz="1600" b="1" i="0" dirty="0">
                          <a:solidFill>
                            <a:srgbClr val="2E4D6B"/>
                          </a:solidFill>
                          <a:latin typeface="+mn-lt"/>
                          <a:cs typeface="Calibri"/>
                        </a:rPr>
                        <a:t>5. Risk fusion</a:t>
                      </a:r>
                      <a:endParaRPr lang="en-US" sz="1600" dirty="0"/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C9D6E8"/>
                      </a:solidFill>
                      <a:prstDash val="soli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rgbClr val="242424"/>
                          </a:solidFill>
                          <a:latin typeface="+mn-lt"/>
                          <a:cs typeface="Calibri"/>
                        </a:rPr>
                        <a:t>Weighted component scores → pattern state</a:t>
                      </a:r>
                      <a:endParaRPr lang="en-US" sz="1600" dirty="0"/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C9D6E8"/>
                      </a:solidFill>
                      <a:prstDash val="soli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rgbClr val="242424"/>
                          </a:solidFill>
                          <a:latin typeface="+mn-lt"/>
                          <a:cs typeface="Calibri"/>
                        </a:rPr>
                        <a:t>0.60 strain / 0.75 support</a:t>
                      </a:r>
                      <a:endParaRPr lang="en-US" sz="1600" dirty="0"/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C9D6E8"/>
                      </a:solidFill>
                      <a:prstDash val="soli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</a:lnB>
                    <a:solidFill>
                      <a:srgbClr val="EAF2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lang="en-US" sz="1600" b="1" i="0" dirty="0">
                          <a:solidFill>
                            <a:srgbClr val="2E4D6B"/>
                          </a:solidFill>
                          <a:latin typeface="+mn-lt"/>
                          <a:cs typeface="Calibri"/>
                        </a:rPr>
                        <a:t>6. Intervention</a:t>
                      </a:r>
                      <a:endParaRPr lang="en-US" sz="1600" dirty="0"/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C9D6E8"/>
                      </a:solidFill>
                      <a:prstDash val="soli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rgbClr val="242424"/>
                          </a:solidFill>
                          <a:latin typeface="+mn-lt"/>
                          <a:cs typeface="Calibri"/>
                        </a:rPr>
                        <a:t>Fixed rule table, least intrusive first</a:t>
                      </a:r>
                      <a:endParaRPr lang="en-US" sz="1600" dirty="0"/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C9D6E8"/>
                      </a:solidFill>
                      <a:prstDash val="soli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rgbClr val="242424"/>
                          </a:solidFill>
                          <a:latin typeface="+mn-lt"/>
                          <a:cs typeface="Calibri"/>
                        </a:rPr>
                        <a:t>3-day cooldown</a:t>
                      </a:r>
                      <a:endParaRPr lang="en-US" sz="1600" dirty="0"/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C9D6E8"/>
                      </a:solidFill>
                      <a:prstDash val="soli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34681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411E118-0427-BF72-3B78-1707B0D6E38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/>
              </a:rPr>
              <a:t>Data Preprocessing &amp; EDA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4F7A196-7B69-DD68-52A5-39CD9B799F7D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WorkWell AI – Employee Wellness Platform</a:t>
            </a:r>
          </a:p>
        </p:txBody>
      </p:sp>
      <p:sp>
        <p:nvSpPr>
          <p:cNvPr id="101" name="Shape 101"/>
          <p:cNvSpPr/>
          <p:nvPr/>
        </p:nvSpPr>
        <p:spPr>
          <a:xfrm>
            <a:off x="320040" y="1417320"/>
            <a:ext cx="2084832" cy="548640"/>
          </a:xfrm>
          <a:prstGeom prst="roundRect">
            <a:avLst>
              <a:gd name="adj" fmla="val 12000"/>
            </a:avLst>
          </a:prstGeom>
          <a:solidFill>
            <a:srgbClr val="1C4D98"/>
          </a:solidFill>
          <a:ln>
            <a:noFill/>
          </a:ln>
        </p:spPr>
        <p:txBody>
          <a:bodyPr wrap="square" lIns="54864" tIns="54864" rIns="54864" bIns="54864" anchor="ctr" rtlCol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FFFFFF"/>
                </a:solidFill>
                <a:latin typeface="+mn-lt"/>
                <a:cs typeface="Calibri"/>
              </a:rPr>
              <a:t>Raw telemetry</a:t>
            </a:r>
            <a:endParaRPr lang="en-US" sz="1600" dirty="0"/>
          </a:p>
        </p:txBody>
      </p:sp>
      <p:sp>
        <p:nvSpPr>
          <p:cNvPr id="102" name="Shape 102"/>
          <p:cNvSpPr/>
          <p:nvPr/>
        </p:nvSpPr>
        <p:spPr>
          <a:xfrm>
            <a:off x="2679192" y="1417320"/>
            <a:ext cx="2084832" cy="548640"/>
          </a:xfrm>
          <a:prstGeom prst="roundRect">
            <a:avLst>
              <a:gd name="adj" fmla="val 12000"/>
            </a:avLst>
          </a:prstGeom>
          <a:solidFill>
            <a:srgbClr val="245FA4"/>
          </a:solidFill>
          <a:ln>
            <a:noFill/>
          </a:ln>
        </p:spPr>
        <p:txBody>
          <a:bodyPr wrap="square" lIns="54864" tIns="54864" rIns="54864" bIns="54864" anchor="ctr" rtlCol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FFFFFF"/>
                </a:solidFill>
                <a:latin typeface="+mn-lt"/>
                <a:cs typeface="Calibri"/>
              </a:rPr>
              <a:t>Consent filter</a:t>
            </a:r>
            <a:endParaRPr lang="en-US" sz="1600" dirty="0"/>
          </a:p>
        </p:txBody>
      </p:sp>
      <p:cxnSp>
        <p:nvCxnSpPr>
          <p:cNvPr id="103" name="Arrow 103"/>
          <p:cNvCxnSpPr/>
          <p:nvPr/>
        </p:nvCxnSpPr>
        <p:spPr>
          <a:xfrm>
            <a:off x="2441448" y="1691640"/>
            <a:ext cx="201168" cy="0"/>
          </a:xfrm>
          <a:prstGeom prst="straightConnector1">
            <a:avLst/>
          </a:prstGeom>
          <a:ln w="22225">
            <a:solidFill>
              <a:srgbClr val="8497B0"/>
            </a:solidFill>
            <a:tailEnd type="triangle" w="med" len="med"/>
          </a:ln>
        </p:spPr>
      </p:cxnSp>
      <p:sp>
        <p:nvSpPr>
          <p:cNvPr id="104" name="Shape 104"/>
          <p:cNvSpPr/>
          <p:nvPr/>
        </p:nvSpPr>
        <p:spPr>
          <a:xfrm>
            <a:off x="5038344" y="1417320"/>
            <a:ext cx="2084832" cy="548640"/>
          </a:xfrm>
          <a:prstGeom prst="roundRect">
            <a:avLst>
              <a:gd name="adj" fmla="val 12000"/>
            </a:avLst>
          </a:prstGeom>
          <a:solidFill>
            <a:srgbClr val="2A6DB0"/>
          </a:solidFill>
          <a:ln>
            <a:noFill/>
          </a:ln>
        </p:spPr>
        <p:txBody>
          <a:bodyPr wrap="square" lIns="54864" tIns="54864" rIns="54864" bIns="54864" anchor="ctr" rtlCol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FFFFFF"/>
                </a:solidFill>
                <a:latin typeface="+mn-lt"/>
                <a:cs typeface="Calibri"/>
              </a:rPr>
              <a:t>Daily features</a:t>
            </a:r>
            <a:endParaRPr lang="en-US" sz="1600" dirty="0"/>
          </a:p>
        </p:txBody>
      </p:sp>
      <p:cxnSp>
        <p:nvCxnSpPr>
          <p:cNvPr id="105" name="Arrow 105"/>
          <p:cNvCxnSpPr/>
          <p:nvPr/>
        </p:nvCxnSpPr>
        <p:spPr>
          <a:xfrm>
            <a:off x="4800600" y="1691640"/>
            <a:ext cx="201168" cy="0"/>
          </a:xfrm>
          <a:prstGeom prst="straightConnector1">
            <a:avLst/>
          </a:prstGeom>
          <a:ln w="22225">
            <a:solidFill>
              <a:srgbClr val="8497B0"/>
            </a:solidFill>
            <a:tailEnd type="triangle" w="med" len="med"/>
          </a:ln>
        </p:spPr>
      </p:cxnSp>
      <p:sp>
        <p:nvSpPr>
          <p:cNvPr id="106" name="Shape 106"/>
          <p:cNvSpPr/>
          <p:nvPr/>
        </p:nvSpPr>
        <p:spPr>
          <a:xfrm>
            <a:off x="7397496" y="1417320"/>
            <a:ext cx="2084832" cy="548640"/>
          </a:xfrm>
          <a:prstGeom prst="roundRect">
            <a:avLst>
              <a:gd name="adj" fmla="val 12000"/>
            </a:avLst>
          </a:prstGeom>
          <a:solidFill>
            <a:srgbClr val="2F80AB"/>
          </a:solidFill>
          <a:ln>
            <a:noFill/>
          </a:ln>
        </p:spPr>
        <p:txBody>
          <a:bodyPr wrap="square" lIns="54864" tIns="54864" rIns="54864" bIns="54864" anchor="ctr" rtlCol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FFFFFF"/>
                </a:solidFill>
                <a:latin typeface="+mn-lt"/>
                <a:cs typeface="Calibri"/>
              </a:rPr>
              <a:t>Drop partial day</a:t>
            </a:r>
            <a:endParaRPr lang="en-US" sz="1600" dirty="0"/>
          </a:p>
        </p:txBody>
      </p:sp>
      <p:cxnSp>
        <p:nvCxnSpPr>
          <p:cNvPr id="107" name="Arrow 107"/>
          <p:cNvCxnSpPr/>
          <p:nvPr/>
        </p:nvCxnSpPr>
        <p:spPr>
          <a:xfrm>
            <a:off x="7159752" y="1691640"/>
            <a:ext cx="201168" cy="0"/>
          </a:xfrm>
          <a:prstGeom prst="straightConnector1">
            <a:avLst/>
          </a:prstGeom>
          <a:ln w="22225">
            <a:solidFill>
              <a:srgbClr val="8497B0"/>
            </a:solidFill>
            <a:tailEnd type="triangle" w="med" len="med"/>
          </a:ln>
        </p:spPr>
      </p:cxnSp>
      <p:sp>
        <p:nvSpPr>
          <p:cNvPr id="108" name="Shape 108"/>
          <p:cNvSpPr/>
          <p:nvPr/>
        </p:nvSpPr>
        <p:spPr>
          <a:xfrm>
            <a:off x="9756648" y="1417320"/>
            <a:ext cx="2084832" cy="548640"/>
          </a:xfrm>
          <a:prstGeom prst="roundRect">
            <a:avLst>
              <a:gd name="adj" fmla="val 12000"/>
            </a:avLst>
          </a:prstGeom>
          <a:solidFill>
            <a:srgbClr val="3793A6"/>
          </a:solidFill>
          <a:ln>
            <a:noFill/>
          </a:ln>
        </p:spPr>
        <p:txBody>
          <a:bodyPr wrap="square" lIns="54864" tIns="54864" rIns="54864" bIns="54864" anchor="ctr" rtlCol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FFFFFF"/>
                </a:solidFill>
                <a:latin typeface="+mn-lt"/>
                <a:cs typeface="Calibri"/>
              </a:rPr>
              <a:t>Baseline-ready</a:t>
            </a:r>
            <a:endParaRPr lang="en-US" sz="1600" dirty="0"/>
          </a:p>
        </p:txBody>
      </p:sp>
      <p:cxnSp>
        <p:nvCxnSpPr>
          <p:cNvPr id="109" name="Arrow 109"/>
          <p:cNvCxnSpPr/>
          <p:nvPr/>
        </p:nvCxnSpPr>
        <p:spPr>
          <a:xfrm>
            <a:off x="9518904" y="1691640"/>
            <a:ext cx="201168" cy="0"/>
          </a:xfrm>
          <a:prstGeom prst="straightConnector1">
            <a:avLst/>
          </a:prstGeom>
          <a:ln w="22225">
            <a:solidFill>
              <a:srgbClr val="8497B0"/>
            </a:solidFill>
            <a:tailEnd type="triangle" w="med" len="med"/>
          </a:ln>
        </p:spPr>
      </p:cxnSp>
      <p:sp>
        <p:nvSpPr>
          <p:cNvPr id="110" name="Shape 110"/>
          <p:cNvSpPr/>
          <p:nvPr/>
        </p:nvSpPr>
        <p:spPr>
          <a:xfrm>
            <a:off x="320040" y="2029968"/>
            <a:ext cx="2084832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595959"/>
                </a:solidFill>
                <a:latin typeface="+mn-lt"/>
                <a:cs typeface="Calibri"/>
              </a:rPr>
              <a:t>Desktop agent events</a:t>
            </a:r>
            <a:endParaRPr lang="en-US" sz="1200" dirty="0"/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595959"/>
                </a:solidFill>
                <a:latin typeface="+mn-lt"/>
                <a:cs typeface="Calibri"/>
              </a:rPr>
              <a:t>(timing only)</a:t>
            </a:r>
            <a:endParaRPr lang="en-US" sz="1200" dirty="0"/>
          </a:p>
        </p:txBody>
      </p:sp>
      <p:sp>
        <p:nvSpPr>
          <p:cNvPr id="111" name="Shape 111"/>
          <p:cNvSpPr/>
          <p:nvPr/>
        </p:nvSpPr>
        <p:spPr>
          <a:xfrm>
            <a:off x="2679192" y="2029968"/>
            <a:ext cx="2084832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595959"/>
                </a:solidFill>
                <a:latin typeface="+mn-lt"/>
                <a:cs typeface="Calibri"/>
              </a:rPr>
              <a:t>Disabled signals stripped</a:t>
            </a:r>
            <a:endParaRPr lang="en-US" sz="1200" dirty="0"/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595959"/>
                </a:solidFill>
                <a:latin typeface="+mn-lt"/>
                <a:cs typeface="Calibri"/>
              </a:rPr>
              <a:t>on the server</a:t>
            </a:r>
            <a:endParaRPr lang="en-US" sz="1200" dirty="0"/>
          </a:p>
        </p:txBody>
      </p:sp>
      <p:sp>
        <p:nvSpPr>
          <p:cNvPr id="112" name="Shape 112"/>
          <p:cNvSpPr/>
          <p:nvPr/>
        </p:nvSpPr>
        <p:spPr>
          <a:xfrm>
            <a:off x="5038344" y="2029968"/>
            <a:ext cx="2084832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595959"/>
                </a:solidFill>
                <a:latin typeface="+mn-lt"/>
                <a:cs typeface="Calibri"/>
              </a:rPr>
              <a:t>Per employee, per day</a:t>
            </a:r>
            <a:endParaRPr lang="en-US" sz="1200" dirty="0"/>
          </a:p>
        </p:txBody>
      </p:sp>
      <p:sp>
        <p:nvSpPr>
          <p:cNvPr id="113" name="Shape 113"/>
          <p:cNvSpPr/>
          <p:nvPr/>
        </p:nvSpPr>
        <p:spPr>
          <a:xfrm>
            <a:off x="7397496" y="2029968"/>
            <a:ext cx="2084832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595959"/>
                </a:solidFill>
                <a:latin typeface="+mn-lt"/>
                <a:cs typeface="Calibri"/>
              </a:rPr>
              <a:t>Today excluded, in the</a:t>
            </a:r>
            <a:endParaRPr lang="en-US" sz="1200" dirty="0"/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595959"/>
                </a:solidFill>
                <a:latin typeface="+mn-lt"/>
                <a:cs typeface="Calibri"/>
              </a:rPr>
              <a:t>employee’s timezone</a:t>
            </a:r>
            <a:endParaRPr lang="en-US" sz="1200" dirty="0"/>
          </a:p>
        </p:txBody>
      </p:sp>
      <p:sp>
        <p:nvSpPr>
          <p:cNvPr id="114" name="Shape 114"/>
          <p:cNvSpPr/>
          <p:nvPr/>
        </p:nvSpPr>
        <p:spPr>
          <a:xfrm>
            <a:off x="9756648" y="2029968"/>
            <a:ext cx="2084832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595959"/>
                </a:solidFill>
                <a:latin typeface="+mn-lt"/>
                <a:cs typeface="Calibri"/>
              </a:rPr>
              <a:t>≥ 7 complete days</a:t>
            </a:r>
            <a:endParaRPr lang="en-US" sz="1200" dirty="0"/>
          </a:p>
        </p:txBody>
      </p:sp>
      <p:graphicFrame>
        <p:nvGraphicFramePr>
          <p:cNvPr id="115" name="Table 115"/>
          <p:cNvGraphicFramePr>
            <a:graphicFrameLocks noGrp="1"/>
          </p:cNvGraphicFramePr>
          <p:nvPr/>
        </p:nvGraphicFramePr>
        <p:xfrm>
          <a:off x="320040" y="2788920"/>
          <a:ext cx="11521440" cy="2194560"/>
        </p:xfrm>
        <a:graphic>
          <a:graphicData uri="http://schemas.openxmlformats.org/drawingml/2006/table">
            <a:tbl>
              <a:tblPr firstRow="1" bandRow="1"/>
              <a:tblGrid>
                <a:gridCol w="1463040"/>
                <a:gridCol w="3840480"/>
                <a:gridCol w="621792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lang="en-US" sz="1400" b="1" i="0" dirty="0">
                          <a:solidFill>
                            <a:srgbClr val="FFFFFF"/>
                          </a:solidFill>
                          <a:latin typeface="+mn-lt"/>
                          <a:cs typeface="Calibri"/>
                        </a:rPr>
                        <a:t>Demo user</a:t>
                      </a:r>
                      <a:endParaRPr lang="en-US" sz="1400" dirty="0"/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C9D6E8"/>
                      </a:solidFill>
                      <a:prstDash val="soli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</a:lnB>
                    <a:solidFill>
                      <a:srgbClr val="1C4D9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i="0" dirty="0">
                          <a:solidFill>
                            <a:srgbClr val="FFFFFF"/>
                          </a:solidFill>
                          <a:latin typeface="+mn-lt"/>
                          <a:cs typeface="Calibri"/>
                        </a:rPr>
                        <a:t>Archetype (30 days, synthetic)</a:t>
                      </a:r>
                      <a:endParaRPr lang="en-US" sz="1400" dirty="0"/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C9D6E8"/>
                      </a:solidFill>
                      <a:prstDash val="soli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</a:lnB>
                    <a:solidFill>
                      <a:srgbClr val="1C4D9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i="0" dirty="0">
                          <a:solidFill>
                            <a:srgbClr val="FFFFFF"/>
                          </a:solidFill>
                          <a:latin typeface="+mn-lt"/>
                          <a:cs typeface="Calibri"/>
                        </a:rPr>
                        <a:t>Detected result</a:t>
                      </a:r>
                      <a:endParaRPr lang="en-US" sz="1400" dirty="0"/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C9D6E8"/>
                      </a:solidFill>
                      <a:prstDash val="soli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</a:lnB>
                    <a:solidFill>
                      <a:srgbClr val="1C4D9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lang="en-US" sz="1400" b="1" i="0" dirty="0">
                          <a:solidFill>
                            <a:srgbClr val="2E4D6B"/>
                          </a:solidFill>
                          <a:latin typeface="+mn-lt"/>
                          <a:cs typeface="Calibri"/>
                        </a:rPr>
                        <a:t>Employee A</a:t>
                      </a:r>
                      <a:endParaRPr lang="en-US" sz="1400" dirty="0"/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C9D6E8"/>
                      </a:solidFill>
                      <a:prstDash val="soli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rgbClr val="242424"/>
                          </a:solidFill>
                          <a:latin typeface="+mn-lt"/>
                          <a:cs typeface="Calibri"/>
                        </a:rPr>
                        <a:t>Normal</a:t>
                      </a:r>
                      <a:endParaRPr lang="en-US" sz="1400" dirty="0"/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C9D6E8"/>
                      </a:solidFill>
                      <a:prstDash val="soli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rgbClr val="242424"/>
                          </a:solidFill>
                          <a:latin typeface="+mn-lt"/>
                          <a:cs typeface="Calibri"/>
                        </a:rPr>
                        <a:t>STABLE</a:t>
                      </a:r>
                      <a:endParaRPr lang="en-US" sz="1400" dirty="0"/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C9D6E8"/>
                      </a:solidFill>
                      <a:prstDash val="soli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</a:lnB>
                    <a:solidFill>
                      <a:srgbClr val="EAF2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lang="en-US" sz="1400" b="1" i="0" dirty="0">
                          <a:solidFill>
                            <a:srgbClr val="2E4D6B"/>
                          </a:solidFill>
                          <a:latin typeface="+mn-lt"/>
                          <a:cs typeface="Calibri"/>
                        </a:rPr>
                        <a:t>Employee B</a:t>
                      </a:r>
                      <a:endParaRPr lang="en-US" sz="1400" dirty="0"/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C9D6E8"/>
                      </a:solidFill>
                      <a:prstDash val="soli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rgbClr val="242424"/>
                          </a:solidFill>
                          <a:latin typeface="+mn-lt"/>
                          <a:cs typeface="Calibri"/>
                        </a:rPr>
                        <a:t>Increasing overtime</a:t>
                      </a:r>
                      <a:endParaRPr lang="en-US" sz="1400" dirty="0"/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C9D6E8"/>
                      </a:solidFill>
                      <a:prstDash val="soli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rgbClr val="242424"/>
                          </a:solidFill>
                          <a:latin typeface="+mn-lt"/>
                          <a:cs typeface="Calibri"/>
                        </a:rPr>
                        <a:t>PATTERN CHANGE – after-hours / recovery</a:t>
                      </a:r>
                      <a:endParaRPr lang="en-US" sz="1400" dirty="0"/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C9D6E8"/>
                      </a:solidFill>
                      <a:prstDash val="soli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lang="en-US" sz="1400" b="1" i="0" dirty="0">
                          <a:solidFill>
                            <a:srgbClr val="2E4D6B"/>
                          </a:solidFill>
                          <a:latin typeface="+mn-lt"/>
                          <a:cs typeface="Calibri"/>
                        </a:rPr>
                        <a:t>Employee C</a:t>
                      </a:r>
                      <a:endParaRPr lang="en-US" sz="1400" dirty="0"/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C9D6E8"/>
                      </a:solidFill>
                      <a:prstDash val="soli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rgbClr val="242424"/>
                          </a:solidFill>
                          <a:latin typeface="+mn-lt"/>
                          <a:cs typeface="Calibri"/>
                        </a:rPr>
                        <a:t>Meeting overload</a:t>
                      </a:r>
                      <a:endParaRPr lang="en-US" sz="1400" dirty="0"/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C9D6E8"/>
                      </a:solidFill>
                      <a:prstDash val="soli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rgbClr val="242424"/>
                          </a:solidFill>
                          <a:latin typeface="+mn-lt"/>
                          <a:cs typeface="Calibri"/>
                        </a:rPr>
                        <a:t>PATTERN CHANGE – meetings / focus</a:t>
                      </a:r>
                      <a:endParaRPr lang="en-US" sz="1400" dirty="0"/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C9D6E8"/>
                      </a:solidFill>
                      <a:prstDash val="soli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</a:lnB>
                    <a:solidFill>
                      <a:srgbClr val="EAF2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lang="en-US" sz="1400" b="1" i="0" dirty="0">
                          <a:solidFill>
                            <a:srgbClr val="2E4D6B"/>
                          </a:solidFill>
                          <a:latin typeface="+mn-lt"/>
                          <a:cs typeface="Calibri"/>
                        </a:rPr>
                        <a:t>Employee D</a:t>
                      </a:r>
                      <a:endParaRPr lang="en-US" sz="1400" dirty="0"/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C9D6E8"/>
                      </a:solidFill>
                      <a:prstDash val="soli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rgbClr val="242424"/>
                          </a:solidFill>
                          <a:latin typeface="+mn-lt"/>
                          <a:cs typeface="Calibri"/>
                        </a:rPr>
                        <a:t>Fragmented work</a:t>
                      </a:r>
                      <a:endParaRPr lang="en-US" sz="1400" dirty="0"/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C9D6E8"/>
                      </a:solidFill>
                      <a:prstDash val="soli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rgbClr val="242424"/>
                          </a:solidFill>
                          <a:latin typeface="+mn-lt"/>
                          <a:cs typeface="Calibri"/>
                        </a:rPr>
                        <a:t>PATTERN CHANGE – context switching</a:t>
                      </a:r>
                      <a:endParaRPr lang="en-US" sz="1400" dirty="0"/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C9D6E8"/>
                      </a:solidFill>
                      <a:prstDash val="soli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lang="en-US" sz="1400" b="1" i="0" dirty="0">
                          <a:solidFill>
                            <a:srgbClr val="2E4D6B"/>
                          </a:solidFill>
                          <a:latin typeface="+mn-lt"/>
                          <a:cs typeface="Calibri"/>
                        </a:rPr>
                        <a:t>Employee E</a:t>
                      </a:r>
                      <a:endParaRPr lang="en-US" sz="1400" dirty="0"/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C9D6E8"/>
                      </a:solidFill>
                      <a:prstDash val="soli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rgbClr val="242424"/>
                          </a:solidFill>
                          <a:latin typeface="+mn-lt"/>
                          <a:cs typeface="Calibri"/>
                        </a:rPr>
                        <a:t>Stable but high workload</a:t>
                      </a:r>
                      <a:endParaRPr lang="en-US" sz="1400" dirty="0"/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C9D6E8"/>
                      </a:solidFill>
                      <a:prstDash val="soli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rgbClr val="242424"/>
                          </a:solidFill>
                          <a:latin typeface="+mn-lt"/>
                          <a:cs typeface="Calibri"/>
                        </a:rPr>
                        <a:t>STABLE – correctly left alone</a:t>
                      </a:r>
                      <a:endParaRPr lang="en-US" sz="1400" dirty="0"/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C9D6E8"/>
                      </a:solidFill>
                      <a:prstDash val="soli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</a:lnB>
                    <a:solidFill>
                      <a:srgbClr val="EAF2FB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936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7B675-E694-7663-D55C-2461C40B8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E433592-8155-CD6F-B5E3-78AB52F31D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6032" y="1271016"/>
            <a:ext cx="5120640" cy="3931920"/>
          </a:xfrm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2400" b="1" i="0" dirty="0">
                <a:solidFill>
                  <a:srgbClr val="5583D1"/>
                </a:solidFill>
                <a:latin typeface="+mn-lt"/>
                <a:cs typeface="Calibri"/>
              </a:rPr>
              <a:t>Algorithms</a:t>
            </a:r>
          </a:p>
          <a:p>
            <a:pPr marL="342900" indent="-342900">
              <a:lnSpc>
                <a:spcPct val="100000"/>
              </a:lnSpc>
              <a:spcBef>
                <a:spcPts val="1000"/>
              </a:spcBef>
              <a:buClr>
                <a:srgbClr val="5583D1"/>
              </a:buClr>
              <a:buFont typeface="Arial"/>
              <a:buChar char="•"/>
            </a:pPr>
            <a:r>
              <a:rPr lang="en-US" sz="2000" b="0" i="0" dirty="0">
                <a:solidFill>
                  <a:srgbClr val="242424"/>
                </a:solidFill>
                <a:latin typeface="+mn-lt"/>
                <a:cs typeface="Calibri"/>
              </a:rPr>
              <a:t>Median / MAD robust z-score</a:t>
            </a:r>
          </a:p>
          <a:p>
            <a:pPr marL="342900" indent="-342900">
              <a:lnSpc>
                <a:spcPct val="100000"/>
              </a:lnSpc>
              <a:spcBef>
                <a:spcPts val="1000"/>
              </a:spcBef>
              <a:buClr>
                <a:srgbClr val="5583D1"/>
              </a:buClr>
              <a:buFont typeface="Arial"/>
              <a:buChar char="•"/>
            </a:pPr>
            <a:r>
              <a:rPr lang="en-US" sz="2000" b="0" i="0" dirty="0">
                <a:solidFill>
                  <a:srgbClr val="242424"/>
                </a:solidFill>
                <a:latin typeface="+mn-lt"/>
                <a:cs typeface="Calibri"/>
              </a:rPr>
              <a:t>5-day persistence rule</a:t>
            </a:r>
          </a:p>
          <a:p>
            <a:pPr marL="342900" indent="-342900">
              <a:lnSpc>
                <a:spcPct val="100000"/>
              </a:lnSpc>
              <a:spcBef>
                <a:spcPts val="1000"/>
              </a:spcBef>
              <a:buClr>
                <a:srgbClr val="5583D1"/>
              </a:buClr>
              <a:buFont typeface="Arial"/>
              <a:buChar char="•"/>
            </a:pPr>
            <a:r>
              <a:rPr lang="en-US" sz="2000" b="0" i="0" dirty="0">
                <a:solidFill>
                  <a:srgbClr val="242424"/>
                </a:solidFill>
                <a:latin typeface="+mn-lt"/>
                <a:cs typeface="Calibri"/>
              </a:rPr>
              <a:t>Weighted risk fusion → state</a:t>
            </a:r>
          </a:p>
          <a:p>
            <a:pPr marL="342900" indent="-342900">
              <a:lnSpc>
                <a:spcPct val="100000"/>
              </a:lnSpc>
              <a:spcBef>
                <a:spcPts val="1000"/>
              </a:spcBef>
              <a:buClr>
                <a:srgbClr val="5583D1"/>
              </a:buClr>
              <a:buFont typeface="Arial"/>
              <a:buChar char="•"/>
            </a:pPr>
            <a:r>
              <a:rPr lang="en-US" sz="2000" b="0" i="0" dirty="0">
                <a:solidFill>
                  <a:srgbClr val="242424"/>
                </a:solidFill>
                <a:latin typeface="+mn-lt"/>
                <a:cs typeface="Calibri"/>
              </a:rPr>
              <a:t>pgvector cosine retrieval (RAG)</a:t>
            </a:r>
          </a:p>
          <a:p>
            <a:pPr marL="342900" indent="-342900">
              <a:lnSpc>
                <a:spcPct val="100000"/>
              </a:lnSpc>
              <a:spcBef>
                <a:spcPts val="1000"/>
              </a:spcBef>
              <a:buClr>
                <a:srgbClr val="5583D1"/>
              </a:buClr>
              <a:buFont typeface="Arial"/>
              <a:buChar char="•"/>
            </a:pPr>
            <a:r>
              <a:rPr lang="en-US" sz="2000" b="0" i="0" dirty="0">
                <a:solidFill>
                  <a:srgbClr val="242424"/>
                </a:solidFill>
                <a:latin typeface="+mn-lt"/>
                <a:cs typeface="Calibri"/>
              </a:rPr>
              <a:t>k-anonymity (min. 5 per team)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243BDD-B44E-04F0-FA93-336DD2FFA770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/>
              </a:rPr>
              <a:t>Approach / Algorithms / Tools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963133-FFA1-7CF4-9FAD-E6A120EF4238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EA3EC9D-D5AF-E54C-A3D0-5E42F32DC03B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WorkWell AI – Employee Wellness Platform</a:t>
            </a:r>
          </a:p>
        </p:txBody>
      </p:sp>
      <p:graphicFrame>
        <p:nvGraphicFramePr>
          <p:cNvPr id="101" name="Table 101"/>
          <p:cNvGraphicFramePr>
            <a:graphicFrameLocks noGrp="1"/>
          </p:cNvGraphicFramePr>
          <p:nvPr/>
        </p:nvGraphicFramePr>
        <p:xfrm>
          <a:off x="5669280" y="1463040"/>
          <a:ext cx="6080760" cy="3200400"/>
        </p:xfrm>
        <a:graphic>
          <a:graphicData uri="http://schemas.openxmlformats.org/drawingml/2006/table">
            <a:tbl>
              <a:tblPr firstRow="1" bandRow="1"/>
              <a:tblGrid>
                <a:gridCol w="1554480"/>
                <a:gridCol w="452628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600" b="1" i="0" dirty="0">
                          <a:solidFill>
                            <a:srgbClr val="FFFFFF"/>
                          </a:solidFill>
                          <a:latin typeface="+mn-lt"/>
                          <a:cs typeface="Calibri"/>
                        </a:rPr>
                        <a:t>Layer</a:t>
                      </a:r>
                      <a:endParaRPr lang="en-US" sz="1600" dirty="0"/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C9D6E8"/>
                      </a:solidFill>
                      <a:prstDash val="soli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</a:lnB>
                    <a:solidFill>
                      <a:srgbClr val="1C4D9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i="0" dirty="0">
                          <a:solidFill>
                            <a:srgbClr val="FFFFFF"/>
                          </a:solidFill>
                          <a:latin typeface="+mn-lt"/>
                          <a:cs typeface="Calibri"/>
                        </a:rPr>
                        <a:t>Tools</a:t>
                      </a:r>
                      <a:endParaRPr lang="en-US" sz="1600" dirty="0"/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C9D6E8"/>
                      </a:solidFill>
                      <a:prstDash val="soli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</a:lnB>
                    <a:solidFill>
                      <a:srgbClr val="1C4D9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500" b="1" i="0" dirty="0">
                          <a:solidFill>
                            <a:srgbClr val="2E4D6B"/>
                          </a:solidFill>
                          <a:latin typeface="+mn-lt"/>
                          <a:cs typeface="Calibri"/>
                        </a:rPr>
                        <a:t>Frontend</a:t>
                      </a:r>
                      <a:endParaRPr lang="en-US" sz="1500" dirty="0"/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C9D6E8"/>
                      </a:solidFill>
                      <a:prstDash val="soli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0" i="0" dirty="0">
                          <a:solidFill>
                            <a:srgbClr val="242424"/>
                          </a:solidFill>
                          <a:latin typeface="+mn-lt"/>
                          <a:cs typeface="Calibri"/>
                        </a:rPr>
                        <a:t>React, TypeScript, Vite, Tailwind</a:t>
                      </a:r>
                      <a:endParaRPr lang="en-US" sz="1500" dirty="0"/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C9D6E8"/>
                      </a:solidFill>
                      <a:prstDash val="soli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</a:lnB>
                    <a:solidFill>
                      <a:srgbClr val="EAF2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500" b="1" i="0" dirty="0">
                          <a:solidFill>
                            <a:srgbClr val="2E4D6B"/>
                          </a:solidFill>
                          <a:latin typeface="+mn-lt"/>
                          <a:cs typeface="Calibri"/>
                        </a:rPr>
                        <a:t>Backend</a:t>
                      </a:r>
                      <a:endParaRPr lang="en-US" sz="1500" dirty="0"/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C9D6E8"/>
                      </a:solidFill>
                      <a:prstDash val="soli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0" i="0" dirty="0">
                          <a:solidFill>
                            <a:srgbClr val="242424"/>
                          </a:solidFill>
                          <a:latin typeface="+mn-lt"/>
                          <a:cs typeface="Calibri"/>
                        </a:rPr>
                        <a:t>FastAPI, SQLAlchemy, Alembic</a:t>
                      </a:r>
                      <a:endParaRPr lang="en-US" sz="1500" dirty="0"/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C9D6E8"/>
                      </a:solidFill>
                      <a:prstDash val="soli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500" b="1" i="0" dirty="0">
                          <a:solidFill>
                            <a:srgbClr val="2E4D6B"/>
                          </a:solidFill>
                          <a:latin typeface="+mn-lt"/>
                          <a:cs typeface="Calibri"/>
                        </a:rPr>
                        <a:t>Data</a:t>
                      </a:r>
                      <a:endParaRPr lang="en-US" sz="1500" dirty="0"/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C9D6E8"/>
                      </a:solidFill>
                      <a:prstDash val="soli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0" i="0" dirty="0">
                          <a:solidFill>
                            <a:srgbClr val="242424"/>
                          </a:solidFill>
                          <a:latin typeface="+mn-lt"/>
                          <a:cs typeface="Calibri"/>
                        </a:rPr>
                        <a:t>PostgreSQL 16 + pgvector, Redis</a:t>
                      </a:r>
                      <a:endParaRPr lang="en-US" sz="1500" dirty="0"/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C9D6E8"/>
                      </a:solidFill>
                      <a:prstDash val="soli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</a:lnB>
                    <a:solidFill>
                      <a:srgbClr val="EAF2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500" b="1" i="0" dirty="0">
                          <a:solidFill>
                            <a:srgbClr val="2E4D6B"/>
                          </a:solidFill>
                          <a:latin typeface="+mn-lt"/>
                          <a:cs typeface="Calibri"/>
                        </a:rPr>
                        <a:t>AI</a:t>
                      </a:r>
                      <a:endParaRPr lang="en-US" sz="1500" dirty="0"/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C9D6E8"/>
                      </a:solidFill>
                      <a:prstDash val="soli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0" i="0" dirty="0">
                          <a:solidFill>
                            <a:srgbClr val="242424"/>
                          </a:solidFill>
                          <a:latin typeface="+mn-lt"/>
                          <a:cs typeface="Calibri"/>
                        </a:rPr>
                        <a:t>Gemini (LLM + embeddings)</a:t>
                      </a:r>
                      <a:endParaRPr lang="en-US" sz="1500" dirty="0"/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C9D6E8"/>
                      </a:solidFill>
                      <a:prstDash val="soli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500" b="1" i="0" dirty="0">
                          <a:solidFill>
                            <a:srgbClr val="2E4D6B"/>
                          </a:solidFill>
                          <a:latin typeface="+mn-lt"/>
                          <a:cs typeface="Calibri"/>
                        </a:rPr>
                        <a:t>Agent</a:t>
                      </a:r>
                      <a:endParaRPr lang="en-US" sz="1500" dirty="0"/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C9D6E8"/>
                      </a:solidFill>
                      <a:prstDash val="soli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0" i="0" dirty="0">
                          <a:solidFill>
                            <a:srgbClr val="242424"/>
                          </a:solidFill>
                          <a:latin typeface="+mn-lt"/>
                          <a:cs typeface="Calibri"/>
                        </a:rPr>
                        <a:t>Python desktop agent (psutil, pynput)</a:t>
                      </a:r>
                      <a:endParaRPr lang="en-US" sz="1500" dirty="0"/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C9D6E8"/>
                      </a:solidFill>
                      <a:prstDash val="soli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</a:lnB>
                    <a:solidFill>
                      <a:srgbClr val="EAF2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500" b="1" i="0" dirty="0">
                          <a:solidFill>
                            <a:srgbClr val="2E4D6B"/>
                          </a:solidFill>
                          <a:latin typeface="+mn-lt"/>
                          <a:cs typeface="Calibri"/>
                        </a:rPr>
                        <a:t>Ops</a:t>
                      </a:r>
                      <a:endParaRPr lang="en-US" sz="1500" dirty="0"/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C9D6E8"/>
                      </a:solidFill>
                      <a:prstDash val="soli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0" i="0" dirty="0">
                          <a:solidFill>
                            <a:srgbClr val="242424"/>
                          </a:solidFill>
                          <a:latin typeface="+mn-lt"/>
                          <a:cs typeface="Calibri"/>
                        </a:rPr>
                        <a:t>Docker, Prometheus, GitHub Actions, pytest</a:t>
                      </a:r>
                      <a:endParaRPr lang="en-US" sz="1500" dirty="0"/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C9D6E8"/>
                      </a:solidFill>
                      <a:prstDash val="soli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79446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9A058-E477-163A-1B3E-61A05B0F3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8F67352-6E77-1E87-24B7-ED7906E0679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  <a:latin typeface="Calibri"/>
              </a:rPr>
              <a:t>Project Plan / Milestones Progress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64F4198-C244-16A7-B796-A2E4B5EA6A81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C26B487-77E4-5D5B-7416-E64E3C867A98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WorkWell AI – Employee Wellness Platform</a:t>
            </a:r>
          </a:p>
        </p:txBody>
      </p:sp>
      <p:graphicFrame>
        <p:nvGraphicFramePr>
          <p:cNvPr id="101" name="Table 101"/>
          <p:cNvGraphicFramePr>
            <a:graphicFrameLocks noGrp="1"/>
          </p:cNvGraphicFramePr>
          <p:nvPr/>
        </p:nvGraphicFramePr>
        <p:xfrm>
          <a:off x="320040" y="1417320"/>
          <a:ext cx="11521440" cy="3364992"/>
        </p:xfrm>
        <a:graphic>
          <a:graphicData uri="http://schemas.openxmlformats.org/drawingml/2006/table">
            <a:tbl>
              <a:tblPr firstRow="1" bandRow="1"/>
              <a:tblGrid>
                <a:gridCol w="1188720"/>
                <a:gridCol w="8229600"/>
                <a:gridCol w="2103120"/>
              </a:tblGrid>
              <a:tr h="420624">
                <a:tc>
                  <a:txBody>
                    <a:bodyPr/>
                    <a:lstStyle/>
                    <a:p>
                      <a:pPr algn="ctr"/>
                      <a:r>
                        <a:rPr lang="en-US" sz="1600" b="1" i="0" dirty="0">
                          <a:solidFill>
                            <a:srgbClr val="FFFFFF"/>
                          </a:solidFill>
                          <a:latin typeface="+mn-lt"/>
                          <a:cs typeface="Calibri"/>
                        </a:rPr>
                        <a:t>Phase</a:t>
                      </a:r>
                      <a:endParaRPr lang="en-US" sz="1600" dirty="0"/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C9D6E8"/>
                      </a:solidFill>
                      <a:prstDash val="soli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</a:lnB>
                    <a:solidFill>
                      <a:srgbClr val="1C4D9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i="0" dirty="0">
                          <a:solidFill>
                            <a:srgbClr val="FFFFFF"/>
                          </a:solidFill>
                          <a:latin typeface="+mn-lt"/>
                          <a:cs typeface="Calibri"/>
                        </a:rPr>
                        <a:t>Milestone</a:t>
                      </a:r>
                      <a:endParaRPr lang="en-US" sz="1600" dirty="0"/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C9D6E8"/>
                      </a:solidFill>
                      <a:prstDash val="soli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</a:lnB>
                    <a:solidFill>
                      <a:srgbClr val="1C4D9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i="0" dirty="0">
                          <a:solidFill>
                            <a:srgbClr val="FFFFFF"/>
                          </a:solidFill>
                          <a:latin typeface="+mn-lt"/>
                          <a:cs typeface="Calibri"/>
                        </a:rPr>
                        <a:t>Status</a:t>
                      </a:r>
                      <a:endParaRPr lang="en-US" sz="1600" dirty="0"/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C9D6E8"/>
                      </a:solidFill>
                      <a:prstDash val="soli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</a:lnB>
                    <a:solidFill>
                      <a:srgbClr val="1C4D9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lang="en-US" sz="1500" b="1" i="0" dirty="0">
                          <a:solidFill>
                            <a:srgbClr val="2E4D6B"/>
                          </a:solidFill>
                          <a:latin typeface="+mn-lt"/>
                          <a:cs typeface="Calibri"/>
                        </a:rPr>
                        <a:t>0 – 10</a:t>
                      </a:r>
                      <a:endParaRPr lang="en-US" sz="1500" dirty="0"/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C9D6E8"/>
                      </a:solidFill>
                      <a:prstDash val="soli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0" i="0" dirty="0">
                          <a:solidFill>
                            <a:srgbClr val="242424"/>
                          </a:solidFill>
                          <a:latin typeface="+mn-lt"/>
                          <a:cs typeface="Calibri"/>
                        </a:rPr>
                        <a:t>Detection core + agentic wellness pipeline</a:t>
                      </a:r>
                      <a:endParaRPr lang="en-US" sz="1500" dirty="0"/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C9D6E8"/>
                      </a:solidFill>
                      <a:prstDash val="soli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i="0" dirty="0">
                          <a:solidFill>
                            <a:srgbClr val="38761D"/>
                          </a:solidFill>
                          <a:latin typeface="+mn-lt"/>
                          <a:cs typeface="Calibri"/>
                        </a:rPr>
                        <a:t>Completed</a:t>
                      </a:r>
                      <a:endParaRPr lang="en-US" sz="1500" dirty="0"/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C9D6E8"/>
                      </a:solidFill>
                      <a:prstDash val="soli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</a:lnB>
                    <a:solidFill>
                      <a:srgbClr val="E2F0D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lang="en-US" sz="1500" b="1" i="0" dirty="0">
                          <a:solidFill>
                            <a:srgbClr val="2E4D6B"/>
                          </a:solidFill>
                          <a:latin typeface="+mn-lt"/>
                          <a:cs typeface="Calibri"/>
                        </a:rPr>
                        <a:t>11 – 12</a:t>
                      </a:r>
                      <a:endParaRPr lang="en-US" sz="1500" dirty="0"/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C9D6E8"/>
                      </a:solidFill>
                      <a:prstDash val="soli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0" i="0" dirty="0">
                          <a:solidFill>
                            <a:srgbClr val="242424"/>
                          </a:solidFill>
                          <a:latin typeface="+mn-lt"/>
                          <a:cs typeface="Calibri"/>
                        </a:rPr>
                        <a:t>Team analytics &amp; admin panel</a:t>
                      </a:r>
                      <a:endParaRPr lang="en-US" sz="1500" dirty="0"/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C9D6E8"/>
                      </a:solidFill>
                      <a:prstDash val="soli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i="0" dirty="0">
                          <a:solidFill>
                            <a:srgbClr val="38761D"/>
                          </a:solidFill>
                          <a:latin typeface="+mn-lt"/>
                          <a:cs typeface="Calibri"/>
                        </a:rPr>
                        <a:t>Completed</a:t>
                      </a:r>
                      <a:endParaRPr lang="en-US" sz="1500" dirty="0"/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C9D6E8"/>
                      </a:solidFill>
                      <a:prstDash val="soli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</a:lnB>
                    <a:solidFill>
                      <a:srgbClr val="E2F0D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lang="en-US" sz="1500" b="1" i="0" dirty="0">
                          <a:solidFill>
                            <a:srgbClr val="2E4D6B"/>
                          </a:solidFill>
                          <a:latin typeface="+mn-lt"/>
                          <a:cs typeface="Calibri"/>
                        </a:rPr>
                        <a:t>13</a:t>
                      </a:r>
                      <a:endParaRPr lang="en-US" sz="1500" dirty="0"/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C9D6E8"/>
                      </a:solidFill>
                      <a:prstDash val="soli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0" i="0" dirty="0">
                          <a:solidFill>
                            <a:srgbClr val="242424"/>
                          </a:solidFill>
                          <a:latin typeface="+mn-lt"/>
                          <a:cs typeface="Calibri"/>
                        </a:rPr>
                        <a:t>Integrations (calendar live; Slack / Jira / GitHub declared)</a:t>
                      </a:r>
                      <a:endParaRPr lang="en-US" sz="1500" dirty="0"/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C9D6E8"/>
                      </a:solidFill>
                      <a:prstDash val="soli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i="0" dirty="0">
                          <a:solidFill>
                            <a:srgbClr val="9C6500"/>
                          </a:solidFill>
                          <a:latin typeface="+mn-lt"/>
                          <a:cs typeface="Calibri"/>
                        </a:rPr>
                        <a:t>Partial</a:t>
                      </a:r>
                      <a:endParaRPr lang="en-US" sz="1500" dirty="0"/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C9D6E8"/>
                      </a:solidFill>
                      <a:prstDash val="soli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</a:lnB>
                    <a:solidFill>
                      <a:srgbClr val="FFF2C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lang="en-US" sz="1500" b="1" i="0" dirty="0">
                          <a:solidFill>
                            <a:srgbClr val="2E4D6B"/>
                          </a:solidFill>
                          <a:latin typeface="+mn-lt"/>
                          <a:cs typeface="Calibri"/>
                        </a:rPr>
                        <a:t>14 – 16</a:t>
                      </a:r>
                      <a:endParaRPr lang="en-US" sz="1500" dirty="0"/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C9D6E8"/>
                      </a:solidFill>
                      <a:prstDash val="soli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0" i="0" dirty="0">
                          <a:solidFill>
                            <a:srgbClr val="242424"/>
                          </a:solidFill>
                          <a:latin typeface="+mn-lt"/>
                          <a:cs typeface="Calibri"/>
                        </a:rPr>
                        <a:t>AI provider layer &amp; test suite (324 tests passing)</a:t>
                      </a:r>
                      <a:endParaRPr lang="en-US" sz="1500" dirty="0"/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C9D6E8"/>
                      </a:solidFill>
                      <a:prstDash val="soli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i="0" dirty="0">
                          <a:solidFill>
                            <a:srgbClr val="38761D"/>
                          </a:solidFill>
                          <a:latin typeface="+mn-lt"/>
                          <a:cs typeface="Calibri"/>
                        </a:rPr>
                        <a:t>Completed</a:t>
                      </a:r>
                      <a:endParaRPr lang="en-US" sz="1500" dirty="0"/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C9D6E8"/>
                      </a:solidFill>
                      <a:prstDash val="soli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</a:lnB>
                    <a:solidFill>
                      <a:srgbClr val="E2F0D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lang="en-US" sz="1500" b="1" i="0" dirty="0">
                          <a:solidFill>
                            <a:srgbClr val="2E4D6B"/>
                          </a:solidFill>
                          <a:latin typeface="+mn-lt"/>
                          <a:cs typeface="Calibri"/>
                        </a:rPr>
                        <a:t>17 – 18</a:t>
                      </a:r>
                      <a:endParaRPr lang="en-US" sz="1500" dirty="0"/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C9D6E8"/>
                      </a:solidFill>
                      <a:prstDash val="soli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0" i="0" dirty="0">
                          <a:solidFill>
                            <a:srgbClr val="242424"/>
                          </a:solidFill>
                          <a:latin typeface="+mn-lt"/>
                          <a:cs typeface="Calibri"/>
                        </a:rPr>
                        <a:t>Evaluation: personal vs population baseline</a:t>
                      </a:r>
                      <a:endParaRPr lang="en-US" sz="1500" dirty="0"/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C9D6E8"/>
                      </a:solidFill>
                      <a:prstDash val="soli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i="0" dirty="0">
                          <a:solidFill>
                            <a:srgbClr val="38761D"/>
                          </a:solidFill>
                          <a:latin typeface="+mn-lt"/>
                          <a:cs typeface="Calibri"/>
                        </a:rPr>
                        <a:t>Completed</a:t>
                      </a:r>
                      <a:endParaRPr lang="en-US" sz="1500" dirty="0"/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C9D6E8"/>
                      </a:solidFill>
                      <a:prstDash val="soli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</a:lnB>
                    <a:solidFill>
                      <a:srgbClr val="E2F0D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lang="en-US" sz="1500" b="1" i="0" dirty="0">
                          <a:solidFill>
                            <a:srgbClr val="2E4D6B"/>
                          </a:solidFill>
                          <a:latin typeface="+mn-lt"/>
                          <a:cs typeface="Calibri"/>
                        </a:rPr>
                        <a:t>19 – 20</a:t>
                      </a:r>
                      <a:endParaRPr lang="en-US" sz="1500" dirty="0"/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C9D6E8"/>
                      </a:solidFill>
                      <a:prstDash val="soli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0" i="0" dirty="0">
                          <a:solidFill>
                            <a:srgbClr val="242424"/>
                          </a:solidFill>
                          <a:latin typeface="+mn-lt"/>
                          <a:cs typeface="Calibri"/>
                        </a:rPr>
                        <a:t>Observability &amp; security hardening</a:t>
                      </a:r>
                      <a:endParaRPr lang="en-US" sz="1500" dirty="0"/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C9D6E8"/>
                      </a:solidFill>
                      <a:prstDash val="soli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i="0" dirty="0">
                          <a:solidFill>
                            <a:srgbClr val="38761D"/>
                          </a:solidFill>
                          <a:latin typeface="+mn-lt"/>
                          <a:cs typeface="Calibri"/>
                        </a:rPr>
                        <a:t>Completed</a:t>
                      </a:r>
                      <a:endParaRPr lang="en-US" sz="1500" dirty="0"/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C9D6E8"/>
                      </a:solidFill>
                      <a:prstDash val="soli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</a:lnB>
                    <a:solidFill>
                      <a:srgbClr val="E2F0D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lang="en-US" sz="1500" b="1" i="0" dirty="0">
                          <a:solidFill>
                            <a:srgbClr val="2E4D6B"/>
                          </a:solidFill>
                          <a:latin typeface="+mn-lt"/>
                          <a:cs typeface="Calibri"/>
                        </a:rPr>
                        <a:t>21</a:t>
                      </a:r>
                      <a:endParaRPr lang="en-US" sz="1500" dirty="0"/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C9D6E8"/>
                      </a:solidFill>
                      <a:prstDash val="soli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0" i="0" dirty="0">
                          <a:solidFill>
                            <a:srgbClr val="242424"/>
                          </a:solidFill>
                          <a:latin typeface="+mn-lt"/>
                          <a:cs typeface="Calibri"/>
                        </a:rPr>
                        <a:t>Production deployment (Docker, TLS proxy)</a:t>
                      </a:r>
                      <a:endParaRPr lang="en-US" sz="1500" dirty="0"/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C9D6E8"/>
                      </a:solidFill>
                      <a:prstDash val="soli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i="0" dirty="0">
                          <a:solidFill>
                            <a:srgbClr val="9C6500"/>
                          </a:solidFill>
                          <a:latin typeface="+mn-lt"/>
                          <a:cs typeface="Calibri"/>
                        </a:rPr>
                        <a:t>Built – live run pending</a:t>
                      </a:r>
                      <a:endParaRPr lang="en-US" sz="1500" dirty="0"/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C9D6E8"/>
                      </a:solidFill>
                      <a:prstDash val="soli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</a:lnB>
                    <a:solidFill>
                      <a:srgbClr val="FFF2CC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011091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5BBC5-46B5-0DF4-A2AC-5289D2957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BEA9949-295E-B2C7-8E3A-639B0AD48F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  <a:latin typeface="Calibri"/>
              </a:rPr>
              <a:t>Pipeline Structure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3477A6-BED1-8211-5527-9030F1E86940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B5AC1E1-8B68-1019-1B7A-0CF7BDC8B3EC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WorkWell AI – Employee Wellness Platform</a:t>
            </a:r>
          </a:p>
        </p:txBody>
      </p:sp>
      <p:sp>
        <p:nvSpPr>
          <p:cNvPr id="101" name="Shape 101"/>
          <p:cNvSpPr/>
          <p:nvPr/>
        </p:nvSpPr>
        <p:spPr>
          <a:xfrm>
            <a:off x="320040" y="1463040"/>
            <a:ext cx="2377440" cy="960120"/>
          </a:xfrm>
          <a:prstGeom prst="roundRect">
            <a:avLst>
              <a:gd name="adj" fmla="val 12000"/>
            </a:avLst>
          </a:prstGeom>
          <a:solidFill>
            <a:srgbClr val="1C4D98"/>
          </a:solidFill>
          <a:ln>
            <a:noFill/>
          </a:ln>
        </p:spPr>
        <p:txBody>
          <a:bodyPr wrap="square" lIns="54864" tIns="54864" rIns="54864" bIns="54864" anchor="ctr" rtlCol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FFFFFF"/>
                </a:solidFill>
                <a:latin typeface="+mn-lt"/>
                <a:cs typeface="Calibri"/>
              </a:rPr>
              <a:t>1. Desktop Agent</a:t>
            </a:r>
            <a:endParaRPr lang="en-US" sz="1500" dirty="0"/>
          </a:p>
          <a:p>
            <a:pPr marL="0" indent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FFFFFF"/>
                </a:solidFill>
                <a:latin typeface="+mn-lt"/>
                <a:cs typeface="Calibri"/>
              </a:rPr>
              <a:t>approved signals</a:t>
            </a:r>
            <a:endParaRPr lang="en-US" sz="1200" dirty="0"/>
          </a:p>
        </p:txBody>
      </p:sp>
      <p:sp>
        <p:nvSpPr>
          <p:cNvPr id="102" name="Shape 102"/>
          <p:cNvSpPr/>
          <p:nvPr/>
        </p:nvSpPr>
        <p:spPr>
          <a:xfrm>
            <a:off x="3364992" y="1463040"/>
            <a:ext cx="2377440" cy="960120"/>
          </a:xfrm>
          <a:prstGeom prst="roundRect">
            <a:avLst>
              <a:gd name="adj" fmla="val 12000"/>
            </a:avLst>
          </a:prstGeom>
          <a:solidFill>
            <a:srgbClr val="245FA4"/>
          </a:solidFill>
          <a:ln>
            <a:noFill/>
          </a:ln>
        </p:spPr>
        <p:txBody>
          <a:bodyPr wrap="square" lIns="54864" tIns="54864" rIns="54864" bIns="54864" anchor="ctr" rtlCol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FFFFFF"/>
                </a:solidFill>
                <a:latin typeface="+mn-lt"/>
                <a:cs typeface="Calibri"/>
              </a:rPr>
              <a:t>2. Telemetry API</a:t>
            </a:r>
            <a:endParaRPr lang="en-US" sz="1500" dirty="0"/>
          </a:p>
          <a:p>
            <a:pPr marL="0" indent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FFFFFF"/>
                </a:solidFill>
                <a:latin typeface="+mn-lt"/>
                <a:cs typeface="Calibri"/>
              </a:rPr>
              <a:t>consent filter</a:t>
            </a:r>
            <a:endParaRPr lang="en-US" sz="1200" dirty="0"/>
          </a:p>
        </p:txBody>
      </p:sp>
      <p:cxnSp>
        <p:nvCxnSpPr>
          <p:cNvPr id="103" name="Arrow 103"/>
          <p:cNvCxnSpPr/>
          <p:nvPr/>
        </p:nvCxnSpPr>
        <p:spPr>
          <a:xfrm>
            <a:off x="2743200" y="1943100"/>
            <a:ext cx="576072" cy="0"/>
          </a:xfrm>
          <a:prstGeom prst="straightConnector1">
            <a:avLst/>
          </a:prstGeom>
          <a:ln w="22225">
            <a:solidFill>
              <a:srgbClr val="8497B0"/>
            </a:solidFill>
            <a:tailEnd type="triangle" w="med" len="med"/>
          </a:ln>
        </p:spPr>
      </p:cxnSp>
      <p:sp>
        <p:nvSpPr>
          <p:cNvPr id="104" name="Shape 104"/>
          <p:cNvSpPr/>
          <p:nvPr/>
        </p:nvSpPr>
        <p:spPr>
          <a:xfrm>
            <a:off x="6409944" y="1463040"/>
            <a:ext cx="2377440" cy="960120"/>
          </a:xfrm>
          <a:prstGeom prst="roundRect">
            <a:avLst>
              <a:gd name="adj" fmla="val 12000"/>
            </a:avLst>
          </a:prstGeom>
          <a:solidFill>
            <a:srgbClr val="2A6DB0"/>
          </a:solidFill>
          <a:ln>
            <a:noFill/>
          </a:ln>
        </p:spPr>
        <p:txBody>
          <a:bodyPr wrap="square" lIns="54864" tIns="54864" rIns="54864" bIns="54864" anchor="ctr" rtlCol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FFFFFF"/>
                </a:solidFill>
                <a:latin typeface="+mn-lt"/>
                <a:cs typeface="Calibri"/>
              </a:rPr>
              <a:t>3. Daily Features</a:t>
            </a:r>
            <a:endParaRPr lang="en-US" sz="1500" dirty="0"/>
          </a:p>
          <a:p>
            <a:pPr marL="0" indent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FFFFFF"/>
                </a:solidFill>
                <a:latin typeface="+mn-lt"/>
                <a:cs typeface="Calibri"/>
              </a:rPr>
              <a:t>5 signal groups</a:t>
            </a:r>
            <a:endParaRPr lang="en-US" sz="1200" dirty="0"/>
          </a:p>
        </p:txBody>
      </p:sp>
      <p:cxnSp>
        <p:nvCxnSpPr>
          <p:cNvPr id="105" name="Arrow 105"/>
          <p:cNvCxnSpPr/>
          <p:nvPr/>
        </p:nvCxnSpPr>
        <p:spPr>
          <a:xfrm>
            <a:off x="5788152" y="1943100"/>
            <a:ext cx="576072" cy="0"/>
          </a:xfrm>
          <a:prstGeom prst="straightConnector1">
            <a:avLst/>
          </a:prstGeom>
          <a:ln w="22225">
            <a:solidFill>
              <a:srgbClr val="8497B0"/>
            </a:solidFill>
            <a:tailEnd type="triangle" w="med" len="med"/>
          </a:ln>
        </p:spPr>
      </p:cxnSp>
      <p:sp>
        <p:nvSpPr>
          <p:cNvPr id="106" name="Shape 106"/>
          <p:cNvSpPr/>
          <p:nvPr/>
        </p:nvSpPr>
        <p:spPr>
          <a:xfrm>
            <a:off x="9454896" y="1463040"/>
            <a:ext cx="2377440" cy="960120"/>
          </a:xfrm>
          <a:prstGeom prst="roundRect">
            <a:avLst>
              <a:gd name="adj" fmla="val 12000"/>
            </a:avLst>
          </a:prstGeom>
          <a:solidFill>
            <a:srgbClr val="2F80AB"/>
          </a:solidFill>
          <a:ln>
            <a:noFill/>
          </a:ln>
        </p:spPr>
        <p:txBody>
          <a:bodyPr wrap="square" lIns="54864" tIns="54864" rIns="54864" bIns="54864" anchor="ctr" rtlCol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FFFFFF"/>
                </a:solidFill>
                <a:latin typeface="+mn-lt"/>
                <a:cs typeface="Calibri"/>
              </a:rPr>
              <a:t>4. Personal Baseline</a:t>
            </a:r>
            <a:endParaRPr lang="en-US" sz="1500" dirty="0"/>
          </a:p>
          <a:p>
            <a:pPr marL="0" indent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FFFFFF"/>
                </a:solidFill>
                <a:latin typeface="+mn-lt"/>
                <a:cs typeface="Calibri"/>
              </a:rPr>
              <a:t>median / MAD</a:t>
            </a:r>
            <a:endParaRPr lang="en-US" sz="1200" dirty="0"/>
          </a:p>
        </p:txBody>
      </p:sp>
      <p:cxnSp>
        <p:nvCxnSpPr>
          <p:cNvPr id="107" name="Arrow 107"/>
          <p:cNvCxnSpPr/>
          <p:nvPr/>
        </p:nvCxnSpPr>
        <p:spPr>
          <a:xfrm>
            <a:off x="8833104" y="1943100"/>
            <a:ext cx="576072" cy="0"/>
          </a:xfrm>
          <a:prstGeom prst="straightConnector1">
            <a:avLst/>
          </a:prstGeom>
          <a:ln w="22225">
            <a:solidFill>
              <a:srgbClr val="8497B0"/>
            </a:solidFill>
            <a:tailEnd type="triangle" w="med" len="med"/>
          </a:ln>
        </p:spPr>
      </p:cxnSp>
      <p:sp>
        <p:nvSpPr>
          <p:cNvPr id="108" name="Shape 108"/>
          <p:cNvSpPr/>
          <p:nvPr/>
        </p:nvSpPr>
        <p:spPr>
          <a:xfrm>
            <a:off x="9454896" y="2926080"/>
            <a:ext cx="2377440" cy="960120"/>
          </a:xfrm>
          <a:prstGeom prst="roundRect">
            <a:avLst>
              <a:gd name="adj" fmla="val 12000"/>
            </a:avLst>
          </a:prstGeom>
          <a:solidFill>
            <a:srgbClr val="3793A6"/>
          </a:solidFill>
          <a:ln>
            <a:noFill/>
          </a:ln>
        </p:spPr>
        <p:txBody>
          <a:bodyPr wrap="square" lIns="54864" tIns="54864" rIns="54864" bIns="54864" anchor="ctr" rtlCol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FFFFFF"/>
                </a:solidFill>
                <a:latin typeface="+mn-lt"/>
                <a:cs typeface="Calibri"/>
              </a:rPr>
              <a:t>5. Anomaly + Persistence</a:t>
            </a:r>
            <a:endParaRPr lang="en-US" sz="1500" dirty="0"/>
          </a:p>
          <a:p>
            <a:pPr marL="0" indent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FFFFFF"/>
                </a:solidFill>
                <a:latin typeface="+mn-lt"/>
                <a:cs typeface="Calibri"/>
              </a:rPr>
              <a:t>z &gt; 2.5 for 5 days</a:t>
            </a:r>
            <a:endParaRPr lang="en-US" sz="1200" dirty="0"/>
          </a:p>
        </p:txBody>
      </p:sp>
      <p:sp>
        <p:nvSpPr>
          <p:cNvPr id="109" name="Shape 109"/>
          <p:cNvSpPr/>
          <p:nvPr/>
        </p:nvSpPr>
        <p:spPr>
          <a:xfrm>
            <a:off x="6409944" y="2926080"/>
            <a:ext cx="2377440" cy="960120"/>
          </a:xfrm>
          <a:prstGeom prst="roundRect">
            <a:avLst>
              <a:gd name="adj" fmla="val 12000"/>
            </a:avLst>
          </a:prstGeom>
          <a:solidFill>
            <a:srgbClr val="3CA3AA"/>
          </a:solidFill>
          <a:ln>
            <a:noFill/>
          </a:ln>
        </p:spPr>
        <p:txBody>
          <a:bodyPr wrap="square" lIns="54864" tIns="54864" rIns="54864" bIns="54864" anchor="ctr" rtlCol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FFFFFF"/>
                </a:solidFill>
                <a:latin typeface="+mn-lt"/>
                <a:cs typeface="Calibri"/>
              </a:rPr>
              <a:t>6. Risk Fusion</a:t>
            </a:r>
            <a:endParaRPr lang="en-US" sz="1500" dirty="0"/>
          </a:p>
          <a:p>
            <a:pPr marL="0" indent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FFFFFF"/>
                </a:solidFill>
                <a:latin typeface="+mn-lt"/>
                <a:cs typeface="Calibri"/>
              </a:rPr>
              <a:t>pattern state</a:t>
            </a:r>
            <a:endParaRPr lang="en-US" sz="1200" dirty="0"/>
          </a:p>
        </p:txBody>
      </p:sp>
      <p:cxnSp>
        <p:nvCxnSpPr>
          <p:cNvPr id="110" name="Arrow 110"/>
          <p:cNvCxnSpPr/>
          <p:nvPr/>
        </p:nvCxnSpPr>
        <p:spPr>
          <a:xfrm flipH="1">
            <a:off x="8833104" y="3406140"/>
            <a:ext cx="576072" cy="0"/>
          </a:xfrm>
          <a:prstGeom prst="straightConnector1">
            <a:avLst/>
          </a:prstGeom>
          <a:ln w="22225">
            <a:solidFill>
              <a:srgbClr val="8497B0"/>
            </a:solidFill>
            <a:tailEnd type="triangle" w="med" len="med"/>
          </a:ln>
        </p:spPr>
      </p:cxnSp>
      <p:sp>
        <p:nvSpPr>
          <p:cNvPr id="111" name="Shape 111"/>
          <p:cNvSpPr/>
          <p:nvPr/>
        </p:nvSpPr>
        <p:spPr>
          <a:xfrm>
            <a:off x="3364992" y="2926080"/>
            <a:ext cx="2377440" cy="960120"/>
          </a:xfrm>
          <a:prstGeom prst="roundRect">
            <a:avLst>
              <a:gd name="adj" fmla="val 12000"/>
            </a:avLst>
          </a:prstGeom>
          <a:solidFill>
            <a:srgbClr val="47BDAF"/>
          </a:solidFill>
          <a:ln>
            <a:noFill/>
          </a:ln>
        </p:spPr>
        <p:txBody>
          <a:bodyPr wrap="square" lIns="54864" tIns="54864" rIns="54864" bIns="54864" anchor="ctr" rtlCol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FFFFFF"/>
                </a:solidFill>
                <a:latin typeface="+mn-lt"/>
                <a:cs typeface="Calibri"/>
              </a:rPr>
              <a:t>7. Agent Orchestrator</a:t>
            </a:r>
            <a:endParaRPr lang="en-US" sz="1500" dirty="0"/>
          </a:p>
          <a:p>
            <a:pPr marL="0" indent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FFFFFF"/>
                </a:solidFill>
                <a:latin typeface="+mn-lt"/>
                <a:cs typeface="Calibri"/>
              </a:rPr>
              <a:t>context → nudge → RAG</a:t>
            </a:r>
            <a:endParaRPr lang="en-US" sz="1200" dirty="0"/>
          </a:p>
        </p:txBody>
      </p:sp>
      <p:cxnSp>
        <p:nvCxnSpPr>
          <p:cNvPr id="112" name="Arrow 112"/>
          <p:cNvCxnSpPr/>
          <p:nvPr/>
        </p:nvCxnSpPr>
        <p:spPr>
          <a:xfrm flipH="1">
            <a:off x="5788152" y="3406140"/>
            <a:ext cx="576072" cy="0"/>
          </a:xfrm>
          <a:prstGeom prst="straightConnector1">
            <a:avLst/>
          </a:prstGeom>
          <a:ln w="22225">
            <a:solidFill>
              <a:srgbClr val="8497B0"/>
            </a:solidFill>
            <a:tailEnd type="triangle" w="med" len="med"/>
          </a:ln>
        </p:spPr>
      </p:cxnSp>
      <p:sp>
        <p:nvSpPr>
          <p:cNvPr id="113" name="Shape 113"/>
          <p:cNvSpPr/>
          <p:nvPr/>
        </p:nvSpPr>
        <p:spPr>
          <a:xfrm>
            <a:off x="320040" y="2926080"/>
            <a:ext cx="2377440" cy="960120"/>
          </a:xfrm>
          <a:prstGeom prst="roundRect">
            <a:avLst>
              <a:gd name="adj" fmla="val 12000"/>
            </a:avLst>
          </a:prstGeom>
          <a:solidFill>
            <a:srgbClr val="70AD47"/>
          </a:solidFill>
          <a:ln>
            <a:noFill/>
          </a:ln>
        </p:spPr>
        <p:txBody>
          <a:bodyPr wrap="square" lIns="54864" tIns="54864" rIns="54864" bIns="54864" anchor="ctr" rtlCol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FFFFFF"/>
                </a:solidFill>
                <a:latin typeface="+mn-lt"/>
                <a:cs typeface="Calibri"/>
              </a:rPr>
              <a:t>8. Employee Dashboard</a:t>
            </a:r>
            <a:endParaRPr lang="en-US" sz="1500" dirty="0"/>
          </a:p>
          <a:p>
            <a:pPr marL="0" indent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FFFFFF"/>
                </a:solidFill>
                <a:latin typeface="+mn-lt"/>
                <a:cs typeface="Calibri"/>
              </a:rPr>
              <a:t>private nudge + feedback</a:t>
            </a:r>
            <a:endParaRPr lang="en-US" sz="1200" dirty="0"/>
          </a:p>
        </p:txBody>
      </p:sp>
      <p:cxnSp>
        <p:nvCxnSpPr>
          <p:cNvPr id="114" name="Arrow 114"/>
          <p:cNvCxnSpPr/>
          <p:nvPr/>
        </p:nvCxnSpPr>
        <p:spPr>
          <a:xfrm flipH="1">
            <a:off x="2743200" y="3406140"/>
            <a:ext cx="576072" cy="0"/>
          </a:xfrm>
          <a:prstGeom prst="straightConnector1">
            <a:avLst/>
          </a:prstGeom>
          <a:ln w="22225">
            <a:solidFill>
              <a:srgbClr val="8497B0"/>
            </a:solidFill>
            <a:tailEnd type="triangle" w="med" len="med"/>
          </a:ln>
        </p:spPr>
      </p:cxnSp>
      <p:cxnSp>
        <p:nvCxnSpPr>
          <p:cNvPr id="115" name="Arrow 115"/>
          <p:cNvCxnSpPr/>
          <p:nvPr/>
        </p:nvCxnSpPr>
        <p:spPr>
          <a:xfrm>
            <a:off x="10643616" y="2468880"/>
            <a:ext cx="0" cy="411480"/>
          </a:xfrm>
          <a:prstGeom prst="straightConnector1">
            <a:avLst/>
          </a:prstGeom>
          <a:ln w="22225">
            <a:solidFill>
              <a:srgbClr val="8497B0"/>
            </a:solidFill>
            <a:tailEnd type="triangle" w="med" len="med"/>
          </a:ln>
        </p:spPr>
      </p:cxnSp>
      <p:sp>
        <p:nvSpPr>
          <p:cNvPr id="116" name="Shape 116"/>
          <p:cNvSpPr/>
          <p:nvPr/>
        </p:nvSpPr>
        <p:spPr>
          <a:xfrm>
            <a:off x="320040" y="4343400"/>
            <a:ext cx="5577840" cy="566928"/>
          </a:xfrm>
          <a:prstGeom prst="roundRect">
            <a:avLst>
              <a:gd name="adj" fmla="val 30000"/>
            </a:avLst>
          </a:prstGeom>
          <a:solidFill>
            <a:srgbClr val="EAF2FB"/>
          </a:solidFill>
          <a:ln w="12700">
            <a:solidFill>
              <a:srgbClr val="C9D6E8"/>
            </a:solidFill>
          </a:ln>
        </p:spPr>
        <p:txBody>
          <a:bodyPr wrap="square" lIns="54864" tIns="54864" rIns="54864" bIns="54864" anchor="ctr" rtlCol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2E4D6B"/>
                </a:solidFill>
                <a:latin typeface="+mn-lt"/>
                <a:cs typeface="Calibri"/>
              </a:rPr>
              <a:t>Daily worker</a:t>
            </a:r>
            <a:r>
              <a:rPr lang="en-US" sz="1400" b="0" i="0" dirty="0">
                <a:solidFill>
                  <a:srgbClr val="2E4D6B"/>
                </a:solidFill>
                <a:latin typeface="+mn-lt"/>
                <a:cs typeface="Calibri"/>
              </a:rPr>
              <a:t xml:space="preserve"> runs this for every consenting employee</a:t>
            </a:r>
            <a:endParaRPr lang="en-US" sz="1400" dirty="0"/>
          </a:p>
        </p:txBody>
      </p:sp>
      <p:sp>
        <p:nvSpPr>
          <p:cNvPr id="117" name="Shape 117"/>
          <p:cNvSpPr/>
          <p:nvPr/>
        </p:nvSpPr>
        <p:spPr>
          <a:xfrm>
            <a:off x="6172200" y="4343400"/>
            <a:ext cx="5577840" cy="566928"/>
          </a:xfrm>
          <a:prstGeom prst="roundRect">
            <a:avLst>
              <a:gd name="adj" fmla="val 30000"/>
            </a:avLst>
          </a:prstGeom>
          <a:solidFill>
            <a:srgbClr val="EAF2FB"/>
          </a:solidFill>
          <a:ln w="12700">
            <a:solidFill>
              <a:srgbClr val="C9D6E8"/>
            </a:solidFill>
          </a:ln>
        </p:spPr>
        <p:txBody>
          <a:bodyPr wrap="square" lIns="54864" tIns="54864" rIns="54864" bIns="54864" anchor="ctr" rtlCol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2E4D6B"/>
                </a:solidFill>
                <a:latin typeface="+mn-lt"/>
                <a:cs typeface="Calibri"/>
              </a:rPr>
              <a:t>Safety pipeline</a:t>
            </a:r>
            <a:r>
              <a:rPr lang="en-US" sz="1400" b="0" i="0" dirty="0">
                <a:solidFill>
                  <a:srgbClr val="2E4D6B"/>
                </a:solidFill>
                <a:latin typeface="+mn-lt"/>
                <a:cs typeface="Calibri"/>
              </a:rPr>
              <a:t xml:space="preserve"> checks every chat message separately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1983719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229</TotalTime>
  <Words>181</Words>
  <Application>Microsoft Office PowerPoint</Application>
  <PresentationFormat>Widescreen</PresentationFormat>
  <Paragraphs>41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Arial</vt:lpstr>
      <vt:lpstr>Calibri</vt:lpstr>
      <vt:lpstr>Calibri (Body)</vt:lpstr>
      <vt:lpstr>Calibri Light</vt:lpstr>
      <vt:lpstr>Frutiger 45 bold</vt:lpstr>
      <vt:lpstr>Frutiger LT Pro 45 Light</vt:lpstr>
      <vt:lpstr>source-serif-pro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HARI PRASATH</dc:creator>
  <cp:lastModifiedBy>HARI PRASATH</cp:lastModifiedBy>
  <cp:revision>12</cp:revision>
  <dcterms:created xsi:type="dcterms:W3CDTF">2024-05-13T10:33:11Z</dcterms:created>
  <dcterms:modified xsi:type="dcterms:W3CDTF">2025-09-20T12:01:52Z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c52bb50-aef2-4dc8-bb7f-e0da22648362_Enabled">
    <vt:lpwstr>true</vt:lpwstr>
  </property>
  <property fmtid="{D5CDD505-2E9C-101B-9397-08002B2CF9AE}" pid="3" name="MSIP_Label_ac52bb50-aef2-4dc8-bb7f-e0da22648362_SetDate">
    <vt:lpwstr>2025-08-25T08:11:33Z</vt:lpwstr>
  </property>
  <property fmtid="{D5CDD505-2E9C-101B-9397-08002B2CF9AE}" pid="4" name="MSIP_Label_ac52bb50-aef2-4dc8-bb7f-e0da22648362_Method">
    <vt:lpwstr>Standard</vt:lpwstr>
  </property>
  <property fmtid="{D5CDD505-2E9C-101B-9397-08002B2CF9AE}" pid="5" name="MSIP_Label_ac52bb50-aef2-4dc8-bb7f-e0da22648362_Name">
    <vt:lpwstr>ac52bb50-aef2-4dc8-bb7f-e0da22648362</vt:lpwstr>
  </property>
  <property fmtid="{D5CDD505-2E9C-101B-9397-08002B2CF9AE}" pid="6" name="MSIP_Label_ac52bb50-aef2-4dc8-bb7f-e0da22648362_SiteId">
    <vt:lpwstr>264b9899-fe1b-430b-9509-2154878d5774</vt:lpwstr>
  </property>
  <property fmtid="{D5CDD505-2E9C-101B-9397-08002B2CF9AE}" pid="7" name="MSIP_Label_ac52bb50-aef2-4dc8-bb7f-e0da22648362_ActionId">
    <vt:lpwstr>5a5317b9-6049-4f38-9ea6-5786aca62bc4</vt:lpwstr>
  </property>
  <property fmtid="{D5CDD505-2E9C-101B-9397-08002B2CF9AE}" pid="8" name="MSIP_Label_ac52bb50-aef2-4dc8-bb7f-e0da22648362_ContentBits">
    <vt:lpwstr>2</vt:lpwstr>
  </property>
  <property fmtid="{D5CDD505-2E9C-101B-9397-08002B2CF9AE}" pid="9" name="MSIP_Label_ac52bb50-aef2-4dc8-bb7f-e0da22648362_Tag">
    <vt:lpwstr>10, 3, 0, 1</vt:lpwstr>
  </property>
  <property fmtid="{D5CDD505-2E9C-101B-9397-08002B2CF9AE}" pid="10" name="ClassificationContentMarkingFooterLocations">
    <vt:lpwstr>1_Office Theme:8</vt:lpwstr>
  </property>
  <property fmtid="{D5CDD505-2E9C-101B-9397-08002B2CF9AE}" pid="11" name="ClassificationContentMarkingFooterText">
    <vt:lpwstr>Sensitivity: LNT Construction Internal Use</vt:lpwstr>
  </property>
</Properties>
</file>